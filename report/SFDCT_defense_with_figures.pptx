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23.xml" ContentType="application/vnd.openxmlformats-officedocument.presentationml.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5120"/>
        <p:guide pos="288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 /><Relationship Id="rId28" Type="http://schemas.openxmlformats.org/officeDocument/2006/relationships/tableStyles" Target="tableStyles.xml" /><Relationship Id="rId2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40712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126823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58196827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3991323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3889283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13693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52938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0179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7100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206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01698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3096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86617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54832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6829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51751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3298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034827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56028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2024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49900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446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8430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1934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D0E597-9765-E411-7ECA-92D0903EFC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F32E10-8F85-F0BE-B8CA-6AABBF65DCF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1810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68665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4253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131FE3-75AE-7CF6-19CD-99B5F191CA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179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660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3208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7E56C6-A784-E783-FB56-94A63C59048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87633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3486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548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7758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32711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67244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58E764-D9EB-25B4-63C5-0046E312E0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817761-4887-78BD-5436-F9EA1C09016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4860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37873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317498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8367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58474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7809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4233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57043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11377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118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4661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33095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7726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9470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7646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29995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246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4863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9104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42352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24823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F6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6859951" name="Shape 0"/>
          <p:cNvSpPr/>
          <p:nvPr/>
        </p:nvSpPr>
        <p:spPr bwMode="auto"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607325726" name="Text 1"/>
          <p:cNvSpPr/>
          <p:nvPr/>
        </p:nvSpPr>
        <p:spPr bwMode="auto">
          <a:xfrm>
            <a:off x="762000" y="1778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600" spc="3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GRADUATE THESIS DEFENSE</a:t>
            </a:r>
            <a:endParaRPr lang="en-US" sz="1600"/>
          </a:p>
        </p:txBody>
      </p:sp>
      <p:sp>
        <p:nvSpPr>
          <p:cNvPr id="862133974" name="Text 2"/>
          <p:cNvSpPr/>
          <p:nvPr/>
        </p:nvSpPr>
        <p:spPr bwMode="auto">
          <a:xfrm flipH="0" flipV="0">
            <a:off x="761999" y="2311398"/>
            <a:ext cx="11489860" cy="9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3700" b="1" i="0" u="none" strike="noStrike" cap="none" spc="0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Hybrid Spatial-Frequency Learning with Block-wise DCT for Deepfake and Liveness Detection in eKYC</a:t>
            </a:r>
            <a:endParaRPr lang="en-US" sz="3700"/>
          </a:p>
        </p:txBody>
      </p:sp>
      <p:sp>
        <p:nvSpPr>
          <p:cNvPr id="704039217" name="Text 3"/>
          <p:cNvSpPr/>
          <p:nvPr/>
        </p:nvSpPr>
        <p:spPr bwMode="auto">
          <a:xfrm>
            <a:off x="761999" y="3822699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8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</a:rPr>
              <a:t>Two-Stream Architecture with Block-DCT Frequency Branch and Gated Cross-Attention Fusion</a:t>
            </a:r>
            <a:endParaRPr lang="en-US" sz="1800"/>
          </a:p>
        </p:txBody>
      </p:sp>
      <p:sp>
        <p:nvSpPr>
          <p:cNvPr id="128974781" name="Shape 4"/>
          <p:cNvSpPr/>
          <p:nvPr/>
        </p:nvSpPr>
        <p:spPr bwMode="auto">
          <a:xfrm>
            <a:off x="761999" y="3699244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58625958" name="Shape 5"/>
          <p:cNvSpPr/>
          <p:nvPr/>
        </p:nvSpPr>
        <p:spPr bwMode="auto">
          <a:xfrm>
            <a:off x="0" y="5461000"/>
            <a:ext cx="16256000" cy="3683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10676746" name="Text 6"/>
          <p:cNvSpPr/>
          <p:nvPr/>
        </p:nvSpPr>
        <p:spPr bwMode="auto">
          <a:xfrm>
            <a:off x="761999" y="6070599"/>
            <a:ext cx="2478918" cy="382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Student: Le Ngoc Thanh</a:t>
            </a:r>
            <a:endParaRPr lang="en-US" sz="1800"/>
          </a:p>
        </p:txBody>
      </p:sp>
      <p:sp>
        <p:nvSpPr>
          <p:cNvPr id="1161329804" name="Text 7"/>
          <p:cNvSpPr/>
          <p:nvPr/>
        </p:nvSpPr>
        <p:spPr bwMode="auto">
          <a:xfrm flipH="0" flipV="0">
            <a:off x="761998" y="6553198"/>
            <a:ext cx="4822361" cy="362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Advisor: </a:t>
            </a:r>
            <a:r>
              <a:rPr lang="en-US" sz="1800" b="0" i="0" u="none" strike="noStrike" cap="none" spc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Assoc. Prof. Dr. Pham Cong Thang</a:t>
            </a:r>
            <a:endParaRPr lang="en-US" sz="1800"/>
          </a:p>
        </p:txBody>
      </p:sp>
      <p:sp>
        <p:nvSpPr>
          <p:cNvPr id="829429309" name="Text 8"/>
          <p:cNvSpPr/>
          <p:nvPr/>
        </p:nvSpPr>
        <p:spPr bwMode="auto">
          <a:xfrm>
            <a:off x="762000" y="70612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6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Computer Science &amp; Artificial Intelligence</a:t>
            </a:r>
            <a:endParaRPr lang="en-US" sz="1600"/>
          </a:p>
        </p:txBody>
      </p:sp>
      <p:sp>
        <p:nvSpPr>
          <p:cNvPr id="2063451220" name="Text 9"/>
          <p:cNvSpPr/>
          <p:nvPr/>
        </p:nvSpPr>
        <p:spPr bwMode="auto">
          <a:xfrm>
            <a:off x="762000" y="75692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June 2026</a:t>
            </a:r>
            <a:endParaRPr lang="en-US" sz="1400"/>
          </a:p>
        </p:txBody>
      </p:sp>
      <p:sp>
        <p:nvSpPr>
          <p:cNvPr id="185605533" name="Text 10"/>
          <p:cNvSpPr/>
          <p:nvPr/>
        </p:nvSpPr>
        <p:spPr bwMode="auto">
          <a:xfrm flipH="0" flipV="0">
            <a:off x="10147500" y="7950199"/>
            <a:ext cx="5350099" cy="765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  <a:defRPr/>
            </a:pPr>
            <a:r>
              <a:rPr lang="en-US" sz="4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THESIS DEFENSE</a:t>
            </a:r>
            <a:endParaRPr lang="en-US" sz="4800"/>
          </a:p>
        </p:txBody>
      </p:sp>
      <p:sp>
        <p:nvSpPr>
          <p:cNvPr id="1911131688" name="Text 6"/>
          <p:cNvSpPr/>
          <p:nvPr/>
        </p:nvSpPr>
        <p:spPr bwMode="auto">
          <a:xfrm>
            <a:off x="3361069" y="6070599"/>
            <a:ext cx="1500566" cy="397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ID: 102220041</a:t>
            </a:r>
            <a:endParaRPr lang="en-US" sz="1800"/>
          </a:p>
        </p:txBody>
      </p:sp>
      <p:sp>
        <p:nvSpPr>
          <p:cNvPr id="595874698" name="Text 6"/>
          <p:cNvSpPr/>
          <p:nvPr/>
        </p:nvSpPr>
        <p:spPr bwMode="auto">
          <a:xfrm>
            <a:off x="5006363" y="6070599"/>
            <a:ext cx="1830180" cy="413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Class: 22T_KHDL</a:t>
            </a: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6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974886" name="Shape 0"/>
          <p:cNvSpPr/>
          <p:nvPr/>
        </p:nvSpPr>
        <p:spPr bwMode="auto"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2079490522" name="Text 1"/>
          <p:cNvSpPr/>
          <p:nvPr/>
        </p:nvSpPr>
        <p:spPr bwMode="auto">
          <a:xfrm>
            <a:off x="762000" y="762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32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Defense Overview</a:t>
            </a:r>
            <a:endParaRPr lang="en-US" sz="3200"/>
          </a:p>
        </p:txBody>
      </p:sp>
      <p:sp>
        <p:nvSpPr>
          <p:cNvPr id="851738676" name="Shape 2"/>
          <p:cNvSpPr/>
          <p:nvPr/>
        </p:nvSpPr>
        <p:spPr bwMode="auto">
          <a:xfrm>
            <a:off x="762000" y="1524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52928803" name="Text 3"/>
          <p:cNvSpPr/>
          <p:nvPr/>
        </p:nvSpPr>
        <p:spPr bwMode="auto">
          <a:xfrm>
            <a:off x="762000" y="2032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36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01</a:t>
            </a:r>
            <a:endParaRPr lang="en-US" sz="3600"/>
          </a:p>
        </p:txBody>
      </p:sp>
      <p:sp>
        <p:nvSpPr>
          <p:cNvPr id="720967590" name="Text 4"/>
          <p:cNvSpPr/>
          <p:nvPr/>
        </p:nvSpPr>
        <p:spPr bwMode="auto">
          <a:xfrm>
            <a:off x="1778000" y="2032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Project Overview</a:t>
            </a:r>
            <a:endParaRPr lang="en-US" sz="2000"/>
          </a:p>
        </p:txBody>
      </p:sp>
      <p:sp>
        <p:nvSpPr>
          <p:cNvPr id="172678635" name="Text 5"/>
          <p:cNvSpPr/>
          <p:nvPr/>
        </p:nvSpPr>
        <p:spPr bwMode="auto">
          <a:xfrm>
            <a:off x="1778000" y="24384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5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</a:rPr>
              <a:t>Problem, Motivation, Objectives &amp; Scope</a:t>
            </a:r>
            <a:endParaRPr lang="en-US" sz="1500"/>
          </a:p>
        </p:txBody>
      </p:sp>
      <p:sp>
        <p:nvSpPr>
          <p:cNvPr id="423429967" name="Text 6"/>
          <p:cNvSpPr/>
          <p:nvPr/>
        </p:nvSpPr>
        <p:spPr bwMode="auto">
          <a:xfrm>
            <a:off x="762000" y="3302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36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02</a:t>
            </a:r>
            <a:endParaRPr lang="en-US" sz="3600"/>
          </a:p>
        </p:txBody>
      </p:sp>
      <p:sp>
        <p:nvSpPr>
          <p:cNvPr id="230489652" name="Text 7"/>
          <p:cNvSpPr/>
          <p:nvPr/>
        </p:nvSpPr>
        <p:spPr bwMode="auto">
          <a:xfrm>
            <a:off x="1778000" y="3302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Methodology</a:t>
            </a:r>
            <a:endParaRPr lang="en-US" sz="2000"/>
          </a:p>
        </p:txBody>
      </p:sp>
      <p:sp>
        <p:nvSpPr>
          <p:cNvPr id="1930837809" name="Text 8"/>
          <p:cNvSpPr/>
          <p:nvPr/>
        </p:nvSpPr>
        <p:spPr bwMode="auto">
          <a:xfrm>
            <a:off x="1778000" y="37084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5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</a:rPr>
              <a:t>Frequency Hypothesis, Block-DCT, Gated Fusion, SFDCT-HFF &amp; Liveness</a:t>
            </a:r>
            <a:endParaRPr lang="en-US" sz="1500"/>
          </a:p>
        </p:txBody>
      </p:sp>
      <p:sp>
        <p:nvSpPr>
          <p:cNvPr id="1983452835" name="Text 9"/>
          <p:cNvSpPr/>
          <p:nvPr/>
        </p:nvSpPr>
        <p:spPr bwMode="auto">
          <a:xfrm>
            <a:off x="762000" y="4572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36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03</a:t>
            </a:r>
            <a:endParaRPr lang="en-US" sz="3600"/>
          </a:p>
        </p:txBody>
      </p:sp>
      <p:sp>
        <p:nvSpPr>
          <p:cNvPr id="2097468603" name="Text 10"/>
          <p:cNvSpPr/>
          <p:nvPr/>
        </p:nvSpPr>
        <p:spPr bwMode="auto">
          <a:xfrm>
            <a:off x="1778000" y="4572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Results</a:t>
            </a:r>
            <a:endParaRPr lang="en-US" sz="2000"/>
          </a:p>
        </p:txBody>
      </p:sp>
      <p:sp>
        <p:nvSpPr>
          <p:cNvPr id="1829198904" name="Text 11"/>
          <p:cNvSpPr/>
          <p:nvPr/>
        </p:nvSpPr>
        <p:spPr bwMode="auto">
          <a:xfrm>
            <a:off x="1778000" y="49784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5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</a:rPr>
              <a:t>Cross-Dataset Protocol and Honest Reading</a:t>
            </a:r>
            <a:endParaRPr lang="en-US" sz="1500"/>
          </a:p>
        </p:txBody>
      </p:sp>
      <p:sp>
        <p:nvSpPr>
          <p:cNvPr id="1816006113" name="Text 12"/>
          <p:cNvSpPr/>
          <p:nvPr/>
        </p:nvSpPr>
        <p:spPr bwMode="auto">
          <a:xfrm>
            <a:off x="762000" y="5842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36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04</a:t>
            </a:r>
            <a:endParaRPr lang="en-US" sz="3600"/>
          </a:p>
        </p:txBody>
      </p:sp>
      <p:sp>
        <p:nvSpPr>
          <p:cNvPr id="653121813" name="Text 13"/>
          <p:cNvSpPr/>
          <p:nvPr/>
        </p:nvSpPr>
        <p:spPr bwMode="auto">
          <a:xfrm>
            <a:off x="1778000" y="5842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Conclusion</a:t>
            </a:r>
            <a:endParaRPr lang="en-US" sz="2000"/>
          </a:p>
        </p:txBody>
      </p:sp>
      <p:sp>
        <p:nvSpPr>
          <p:cNvPr id="2051504958" name="Text 14"/>
          <p:cNvSpPr/>
          <p:nvPr/>
        </p:nvSpPr>
        <p:spPr bwMode="auto">
          <a:xfrm>
            <a:off x="1778000" y="62484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5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</a:rPr>
              <a:t>Contributions, Limitations &amp; Future Directions</a:t>
            </a:r>
            <a:endParaRPr lang="en-US" sz="1500"/>
          </a:p>
        </p:txBody>
      </p:sp>
      <p:sp>
        <p:nvSpPr>
          <p:cNvPr id="1174844847" name="Shape 16"/>
          <p:cNvSpPr/>
          <p:nvPr/>
        </p:nvSpPr>
        <p:spPr bwMode="auto">
          <a:xfrm>
            <a:off x="12865395" y="3352799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 fill="norm" stroke="1" extrusionOk="0">
                <a:moveTo>
                  <a:pt x="508000" y="0"/>
                </a:moveTo>
                <a:cubicBezTo>
                  <a:pt x="517128" y="0"/>
                  <a:pt x="526256" y="1984"/>
                  <a:pt x="534591" y="5755"/>
                </a:cubicBezTo>
                <a:lnTo>
                  <a:pt x="908447" y="164306"/>
                </a:lnTo>
                <a:cubicBezTo>
                  <a:pt x="952103" y="182761"/>
                  <a:pt x="984647" y="225822"/>
                  <a:pt x="984448" y="277813"/>
                </a:cubicBezTo>
                <a:cubicBezTo>
                  <a:pt x="983456" y="474663"/>
                  <a:pt x="902494" y="834827"/>
                  <a:pt x="560586" y="998538"/>
                </a:cubicBezTo>
                <a:cubicBezTo>
                  <a:pt x="527447" y="1014413"/>
                  <a:pt x="488950" y="1014413"/>
                  <a:pt x="455811" y="998538"/>
                </a:cubicBezTo>
                <a:cubicBezTo>
                  <a:pt x="113705" y="834827"/>
                  <a:pt x="32941" y="474663"/>
                  <a:pt x="31948" y="277813"/>
                </a:cubicBezTo>
                <a:cubicBezTo>
                  <a:pt x="31750" y="225822"/>
                  <a:pt x="64294" y="182761"/>
                  <a:pt x="107950" y="164306"/>
                </a:cubicBezTo>
                <a:lnTo>
                  <a:pt x="481608" y="5755"/>
                </a:lnTo>
                <a:cubicBezTo>
                  <a:pt x="489942" y="1984"/>
                  <a:pt x="498872" y="0"/>
                  <a:pt x="508000" y="0"/>
                </a:cubicBezTo>
                <a:close/>
                <a:moveTo>
                  <a:pt x="508000" y="132556"/>
                </a:moveTo>
                <a:lnTo>
                  <a:pt x="508000" y="882848"/>
                </a:lnTo>
                <a:cubicBezTo>
                  <a:pt x="781844" y="750292"/>
                  <a:pt x="855464" y="456605"/>
                  <a:pt x="857250" y="280789"/>
                </a:cubicBezTo>
                <a:lnTo>
                  <a:pt x="508000" y="132755"/>
                </a:lnTo>
                <a:lnTo>
                  <a:pt x="508000" y="132755"/>
                </a:lnTo>
                <a:close/>
              </a:path>
            </a:pathLst>
          </a:custGeom>
          <a:solidFill>
            <a:srgbClr val="5B9BD5"/>
          </a:solidFill>
          <a:ln/>
        </p:spPr>
      </p:sp>
      <p:sp>
        <p:nvSpPr>
          <p:cNvPr id="698164738" name="Text 17"/>
          <p:cNvSpPr/>
          <p:nvPr/>
        </p:nvSpPr>
        <p:spPr bwMode="auto">
          <a:xfrm>
            <a:off x="11684000" y="4572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6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eKYC Deepfake Defense</a:t>
            </a:r>
            <a:endParaRPr lang="en-US" sz="1600"/>
          </a:p>
        </p:txBody>
      </p:sp>
      <p:sp>
        <p:nvSpPr>
          <p:cNvPr id="1378898047" name="Text 18"/>
          <p:cNvSpPr/>
          <p:nvPr/>
        </p:nvSpPr>
        <p:spPr bwMode="auto"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  <a:defRPr/>
            </a:pPr>
            <a:r>
              <a:rPr lang="en-US" sz="14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2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6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661320" name="Shape 0"/>
          <p:cNvSpPr/>
          <p:nvPr/>
        </p:nvSpPr>
        <p:spPr bwMode="auto"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845702435" name="Shape 1"/>
          <p:cNvSpPr/>
          <p:nvPr/>
        </p:nvSpPr>
        <p:spPr bwMode="auto">
          <a:xfrm>
            <a:off x="6096000" y="1778000"/>
            <a:ext cx="12700" cy="55880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0782402" name="Text 2"/>
          <p:cNvSpPr/>
          <p:nvPr/>
        </p:nvSpPr>
        <p:spPr bwMode="auto">
          <a:xfrm>
            <a:off x="762000" y="2540000"/>
            <a:ext cx="4826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20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01</a:t>
            </a:r>
            <a:endParaRPr lang="en-US" sz="12000"/>
          </a:p>
        </p:txBody>
      </p:sp>
      <p:sp>
        <p:nvSpPr>
          <p:cNvPr id="490921340" name="Text 3"/>
          <p:cNvSpPr/>
          <p:nvPr/>
        </p:nvSpPr>
        <p:spPr bwMode="auto">
          <a:xfrm>
            <a:off x="762000" y="5080000"/>
            <a:ext cx="482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600" spc="4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CHAPTER ONE</a:t>
            </a:r>
            <a:endParaRPr lang="en-US" sz="1600"/>
          </a:p>
        </p:txBody>
      </p:sp>
      <p:sp>
        <p:nvSpPr>
          <p:cNvPr id="167687541" name="Text 4"/>
          <p:cNvSpPr/>
          <p:nvPr/>
        </p:nvSpPr>
        <p:spPr bwMode="auto">
          <a:xfrm>
            <a:off x="6604000" y="2997200"/>
            <a:ext cx="8890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  <a:defRPr/>
            </a:pPr>
            <a:r>
              <a:rPr lang="en-US" sz="36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Project Overview</a:t>
            </a:r>
            <a:endParaRPr lang="en-US" sz="3600"/>
          </a:p>
        </p:txBody>
      </p:sp>
      <p:sp>
        <p:nvSpPr>
          <p:cNvPr id="1780057077" name="Text 5"/>
          <p:cNvSpPr/>
          <p:nvPr/>
        </p:nvSpPr>
        <p:spPr bwMode="auto">
          <a:xfrm>
            <a:off x="6604000" y="38354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800">
                <a:solidFill>
                  <a:srgbClr val="AAAAAA"/>
                </a:solidFill>
                <a:latin typeface="Quattrocento Sans"/>
                <a:ea typeface="Quattrocento Sans"/>
                <a:cs typeface="Quattrocento Sans"/>
              </a:rPr>
              <a:t>Problem, Motivation, Objectives &amp; Scope</a:t>
            </a:r>
            <a:endParaRPr lang="en-US" sz="1800"/>
          </a:p>
        </p:txBody>
      </p:sp>
      <p:sp>
        <p:nvSpPr>
          <p:cNvPr id="1286155398" name="Shape 6"/>
          <p:cNvSpPr/>
          <p:nvPr/>
        </p:nvSpPr>
        <p:spPr bwMode="auto">
          <a:xfrm>
            <a:off x="6604000" y="4572000"/>
            <a:ext cx="4064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971408187" name="Text 7"/>
          <p:cNvSpPr/>
          <p:nvPr/>
        </p:nvSpPr>
        <p:spPr bwMode="auto">
          <a:xfrm>
            <a:off x="6604000" y="48260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6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1.1  Problem and Motivation</a:t>
            </a:r>
            <a:endParaRPr lang="en-US" sz="1600"/>
          </a:p>
        </p:txBody>
      </p:sp>
      <p:sp>
        <p:nvSpPr>
          <p:cNvPr id="273256517" name="Text 8"/>
          <p:cNvSpPr/>
          <p:nvPr/>
        </p:nvSpPr>
        <p:spPr bwMode="auto">
          <a:xfrm>
            <a:off x="6604000" y="52832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6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1.2  Objectives and Scope</a:t>
            </a:r>
            <a:endParaRPr lang="en-US" sz="1600"/>
          </a:p>
        </p:txBody>
      </p:sp>
      <p:sp>
        <p:nvSpPr>
          <p:cNvPr id="704058233" name="Text 9"/>
          <p:cNvSpPr/>
          <p:nvPr/>
        </p:nvSpPr>
        <p:spPr bwMode="auto"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  <a:defRPr/>
            </a:pPr>
            <a:r>
              <a:rPr lang="en-US" sz="14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3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6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451570" name="Shape 0"/>
          <p:cNvSpPr/>
          <p:nvPr/>
        </p:nvSpPr>
        <p:spPr bwMode="auto"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317177264" name="Shape 1"/>
          <p:cNvSpPr/>
          <p:nvPr/>
        </p:nvSpPr>
        <p:spPr bwMode="auto"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259717858" name="Text 2"/>
          <p:cNvSpPr/>
          <p:nvPr/>
        </p:nvSpPr>
        <p:spPr bwMode="auto"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  <a:defRPr/>
            </a:pPr>
            <a:r>
              <a:rPr lang="en-US" sz="12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01 Project Overview</a:t>
            </a:r>
            <a:endParaRPr lang="en-US" sz="1200"/>
          </a:p>
        </p:txBody>
      </p:sp>
      <p:sp>
        <p:nvSpPr>
          <p:cNvPr id="264983262" name="Text 3"/>
          <p:cNvSpPr/>
          <p:nvPr/>
        </p:nvSpPr>
        <p:spPr bwMode="auto"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Problem and Motivation: The Generalisation Gap</a:t>
            </a:r>
            <a:endParaRPr lang="en-US" sz="2400"/>
          </a:p>
        </p:txBody>
      </p:sp>
      <p:sp>
        <p:nvSpPr>
          <p:cNvPr id="1356294837" name="Shape 4"/>
          <p:cNvSpPr/>
          <p:nvPr/>
        </p:nvSpPr>
        <p:spPr bwMode="auto">
          <a:xfrm>
            <a:off x="508000" y="863599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66979305" name="Shape 5"/>
          <p:cNvSpPr/>
          <p:nvPr/>
        </p:nvSpPr>
        <p:spPr bwMode="auto">
          <a:xfrm>
            <a:off x="508000" y="1117600"/>
            <a:ext cx="355600" cy="355600"/>
          </a:xfrm>
          <a:prstGeom prst="ellipse">
            <a:avLst/>
          </a:prstGeom>
          <a:solidFill>
            <a:srgbClr val="1A4A7A"/>
          </a:solidFill>
          <a:ln/>
        </p:spPr>
      </p:sp>
      <p:sp>
        <p:nvSpPr>
          <p:cNvPr id="1646411775" name="Text 6"/>
          <p:cNvSpPr/>
          <p:nvPr/>
        </p:nvSpPr>
        <p:spPr bwMode="auto">
          <a:xfrm>
            <a:off x="508000" y="11176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3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1</a:t>
            </a:r>
            <a:endParaRPr lang="en-US" sz="1300"/>
          </a:p>
        </p:txBody>
      </p:sp>
      <p:sp>
        <p:nvSpPr>
          <p:cNvPr id="667789825" name="Text 7"/>
          <p:cNvSpPr/>
          <p:nvPr/>
        </p:nvSpPr>
        <p:spPr bwMode="auto">
          <a:xfrm>
            <a:off x="990600" y="11176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6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eKYC: Face Verification as the First Lock</a:t>
            </a:r>
            <a:endParaRPr lang="en-US" sz="1600"/>
          </a:p>
        </p:txBody>
      </p:sp>
      <p:sp>
        <p:nvSpPr>
          <p:cNvPr id="1052511028" name="Text 8"/>
          <p:cNvSpPr/>
          <p:nvPr/>
        </p:nvSpPr>
        <p:spPr bwMode="auto">
          <a:xfrm>
            <a:off x="990600" y="1473200"/>
            <a:ext cx="762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eKYC opens accounts and confirms payments from one portrait photo. Face verification is the lock on that first door to financial services.</a:t>
            </a:r>
            <a:endParaRPr lang="en-US" sz="1400"/>
          </a:p>
        </p:txBody>
      </p:sp>
      <p:sp>
        <p:nvSpPr>
          <p:cNvPr id="1911068460" name="Shape 9"/>
          <p:cNvSpPr/>
          <p:nvPr/>
        </p:nvSpPr>
        <p:spPr bwMode="auto">
          <a:xfrm>
            <a:off x="508000" y="2235200"/>
            <a:ext cx="8128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23389387" name="Shape 10"/>
          <p:cNvSpPr/>
          <p:nvPr/>
        </p:nvSpPr>
        <p:spPr bwMode="auto">
          <a:xfrm>
            <a:off x="508000" y="2387600"/>
            <a:ext cx="355600" cy="355600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748785862" name="Text 11"/>
          <p:cNvSpPr/>
          <p:nvPr/>
        </p:nvSpPr>
        <p:spPr bwMode="auto">
          <a:xfrm>
            <a:off x="508000" y="23876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3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2</a:t>
            </a:r>
            <a:endParaRPr lang="en-US" sz="1300"/>
          </a:p>
        </p:txBody>
      </p:sp>
      <p:sp>
        <p:nvSpPr>
          <p:cNvPr id="1109805789" name="Text 12"/>
          <p:cNvSpPr/>
          <p:nvPr/>
        </p:nvSpPr>
        <p:spPr bwMode="auto">
          <a:xfrm>
            <a:off x="990600" y="23876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6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Two Distinct Threats</a:t>
            </a:r>
            <a:endParaRPr lang="en-US" sz="1600"/>
          </a:p>
        </p:txBody>
      </p:sp>
      <p:sp>
        <p:nvSpPr>
          <p:cNvPr id="1237540063" name="Text 13"/>
          <p:cNvSpPr/>
          <p:nvPr/>
        </p:nvSpPr>
        <p:spPr bwMode="auto">
          <a:xfrm>
            <a:off x="990600" y="2743200"/>
            <a:ext cx="762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Deepfake</a:t>
            </a: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 (GAN face swap/synthesis) and </a:t>
            </a:r>
            <a:r>
              <a:rPr lang="en-US" sz="14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Presentation Attack</a:t>
            </a: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 (print/replay). Either bypass means identity fraud and direct financial loss.</a:t>
            </a:r>
            <a:endParaRPr lang="en-US" sz="1400"/>
          </a:p>
        </p:txBody>
      </p:sp>
      <p:sp>
        <p:nvSpPr>
          <p:cNvPr id="2045748281" name="Shape 14"/>
          <p:cNvSpPr/>
          <p:nvPr/>
        </p:nvSpPr>
        <p:spPr bwMode="auto">
          <a:xfrm>
            <a:off x="508000" y="3505199"/>
            <a:ext cx="8128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488179732" name="Shape 15"/>
          <p:cNvSpPr/>
          <p:nvPr/>
        </p:nvSpPr>
        <p:spPr bwMode="auto">
          <a:xfrm>
            <a:off x="508000" y="3657600"/>
            <a:ext cx="355600" cy="35560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312546172" name="Text 16"/>
          <p:cNvSpPr/>
          <p:nvPr/>
        </p:nvSpPr>
        <p:spPr bwMode="auto">
          <a:xfrm>
            <a:off x="508000" y="36576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3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3</a:t>
            </a:r>
            <a:endParaRPr lang="en-US" sz="1300"/>
          </a:p>
        </p:txBody>
      </p:sp>
      <p:sp>
        <p:nvSpPr>
          <p:cNvPr id="1475883328" name="Text 17"/>
          <p:cNvSpPr/>
          <p:nvPr/>
        </p:nvSpPr>
        <p:spPr bwMode="auto">
          <a:xfrm>
            <a:off x="990600" y="36576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6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Regulatory Context: Circular 17/2024/TT-NHNN</a:t>
            </a:r>
            <a:endParaRPr lang="en-US" sz="1600"/>
          </a:p>
        </p:txBody>
      </p:sp>
      <p:sp>
        <p:nvSpPr>
          <p:cNvPr id="1438498030" name="Text 18"/>
          <p:cNvSpPr/>
          <p:nvPr/>
        </p:nvSpPr>
        <p:spPr bwMode="auto">
          <a:xfrm>
            <a:off x="990600" y="4013200"/>
            <a:ext cx="762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Mandates biometric checks but fixes no error rate. The operational threshold is left to the system designer.</a:t>
            </a:r>
            <a:endParaRPr lang="en-US" sz="1400"/>
          </a:p>
        </p:txBody>
      </p:sp>
      <p:sp>
        <p:nvSpPr>
          <p:cNvPr id="1266260241" name="Shape 19"/>
          <p:cNvSpPr/>
          <p:nvPr/>
        </p:nvSpPr>
        <p:spPr bwMode="auto">
          <a:xfrm>
            <a:off x="508000" y="4775200"/>
            <a:ext cx="8128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31407003" name="Shape 20"/>
          <p:cNvSpPr/>
          <p:nvPr/>
        </p:nvSpPr>
        <p:spPr bwMode="auto">
          <a:xfrm>
            <a:off x="508000" y="4927600"/>
            <a:ext cx="355600" cy="355600"/>
          </a:xfrm>
          <a:prstGeom prst="ellipse">
            <a:avLst/>
          </a:prstGeom>
          <a:solidFill>
            <a:srgbClr val="1A4A7A"/>
          </a:solidFill>
          <a:ln/>
        </p:spPr>
      </p:sp>
      <p:sp>
        <p:nvSpPr>
          <p:cNvPr id="853303582" name="Text 21"/>
          <p:cNvSpPr/>
          <p:nvPr/>
        </p:nvSpPr>
        <p:spPr bwMode="auto">
          <a:xfrm>
            <a:off x="508000" y="49276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3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4</a:t>
            </a:r>
            <a:endParaRPr lang="en-US" sz="1300"/>
          </a:p>
        </p:txBody>
      </p:sp>
      <p:sp>
        <p:nvSpPr>
          <p:cNvPr id="1206645276" name="Text 22"/>
          <p:cNvSpPr/>
          <p:nvPr/>
        </p:nvSpPr>
        <p:spPr bwMode="auto">
          <a:xfrm>
            <a:off x="990600" y="49276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6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Core Difficulty: The Generalisation Gap</a:t>
            </a:r>
            <a:endParaRPr lang="en-US" sz="1600"/>
          </a:p>
        </p:txBody>
      </p:sp>
      <p:sp>
        <p:nvSpPr>
          <p:cNvPr id="145557206" name="Text 23"/>
          <p:cNvSpPr/>
          <p:nvPr/>
        </p:nvSpPr>
        <p:spPr bwMode="auto">
          <a:xfrm>
            <a:off x="990600" y="5283200"/>
            <a:ext cx="762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Pixel detectors collapse on unseen forgeries. Attackers always use newer tools than those in the training set.</a:t>
            </a:r>
            <a:endParaRPr lang="en-US" sz="1400"/>
          </a:p>
        </p:txBody>
      </p:sp>
      <p:pic>
        <p:nvPicPr>
          <p:cNvPr id="1638094833" name="Image 0" descr="https://kimi-img.moonshot.cn/pub/slides/okc/hkquy3b5iazna/mnt/agents/output/ekyc_defense/images/6_What_is_Deepfake_Risks_Impact_and.png"/>
          <p:cNvPicPr>
            <a:picLocks noChangeAspect="1"/>
          </p:cNvPicPr>
          <p:nvPr/>
        </p:nvPicPr>
        <p:blipFill rotWithShape="1">
          <a:blip r:embed="rId3"/>
          <a:srcRect l="0" t="0" r="0" b="0"/>
          <a:stretch/>
        </p:blipFill>
        <p:spPr bwMode="auto">
          <a:xfrm>
            <a:off x="9144000" y="1117600"/>
            <a:ext cx="6604000" cy="4318000"/>
          </a:xfrm>
          <a:prstGeom prst="roundRect">
            <a:avLst>
              <a:gd name="adj" fmla="val 4000"/>
            </a:avLst>
          </a:prstGeom>
        </p:spPr>
      </p:pic>
      <p:sp>
        <p:nvSpPr>
          <p:cNvPr id="775477216" name="Text 24"/>
          <p:cNvSpPr/>
          <p:nvPr/>
        </p:nvSpPr>
        <p:spPr bwMode="auto">
          <a:xfrm>
            <a:off x="9144000" y="5537200"/>
            <a:ext cx="660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</a:rPr>
              <a:t>Real vs. Deepfake face — nearly identical to the human eye</a:t>
            </a:r>
            <a:endParaRPr lang="en-US" sz="1200"/>
          </a:p>
        </p:txBody>
      </p:sp>
      <p:sp>
        <p:nvSpPr>
          <p:cNvPr id="1205481295" name="Shape 25"/>
          <p:cNvSpPr/>
          <p:nvPr/>
        </p:nvSpPr>
        <p:spPr bwMode="auto">
          <a:xfrm>
            <a:off x="508000" y="6096000"/>
            <a:ext cx="15240000" cy="1016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  <a:ln/>
        </p:spPr>
      </p:sp>
      <p:sp>
        <p:nvSpPr>
          <p:cNvPr id="655197951" name="Shape 26"/>
          <p:cNvSpPr/>
          <p:nvPr/>
        </p:nvSpPr>
        <p:spPr bwMode="auto">
          <a:xfrm>
            <a:off x="711200" y="6324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fill="norm" stroke="1" extrusionOk="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52400" y="80962"/>
                </a:moveTo>
                <a:cubicBezTo>
                  <a:pt x="160318" y="80962"/>
                  <a:pt x="166688" y="87332"/>
                  <a:pt x="166688" y="95250"/>
                </a:cubicBezTo>
                <a:lnTo>
                  <a:pt x="166688" y="161925"/>
                </a:lnTo>
                <a:cubicBezTo>
                  <a:pt x="166688" y="169843"/>
                  <a:pt x="160318" y="176212"/>
                  <a:pt x="152400" y="176212"/>
                </a:cubicBezTo>
                <a:cubicBezTo>
                  <a:pt x="144482" y="176212"/>
                  <a:pt x="138113" y="169843"/>
                  <a:pt x="138113" y="161925"/>
                </a:cubicBezTo>
                <a:lnTo>
                  <a:pt x="138113" y="95250"/>
                </a:lnTo>
                <a:cubicBezTo>
                  <a:pt x="138113" y="87332"/>
                  <a:pt x="144482" y="80962"/>
                  <a:pt x="152400" y="80962"/>
                </a:cubicBezTo>
                <a:close/>
                <a:moveTo>
                  <a:pt x="136505" y="209550"/>
                </a:moveTo>
                <a:cubicBezTo>
                  <a:pt x="136144" y="203650"/>
                  <a:pt x="139086" y="198037"/>
                  <a:pt x="144144" y="194977"/>
                </a:cubicBezTo>
                <a:cubicBezTo>
                  <a:pt x="149201" y="191918"/>
                  <a:pt x="155539" y="191918"/>
                  <a:pt x="160597" y="194977"/>
                </a:cubicBezTo>
                <a:cubicBezTo>
                  <a:pt x="165655" y="198037"/>
                  <a:pt x="168597" y="203650"/>
                  <a:pt x="168235" y="209550"/>
                </a:cubicBezTo>
                <a:cubicBezTo>
                  <a:pt x="168597" y="215450"/>
                  <a:pt x="165655" y="221063"/>
                  <a:pt x="160597" y="224123"/>
                </a:cubicBezTo>
                <a:cubicBezTo>
                  <a:pt x="155539" y="227182"/>
                  <a:pt x="149201" y="227182"/>
                  <a:pt x="144144" y="224123"/>
                </a:cubicBezTo>
                <a:cubicBezTo>
                  <a:pt x="139086" y="221063"/>
                  <a:pt x="136144" y="215450"/>
                  <a:pt x="136505" y="209550"/>
                </a:cubicBezTo>
                <a:close/>
              </a:path>
            </a:pathLst>
          </a:custGeom>
          <a:solidFill>
            <a:srgbClr val="1A4A7A"/>
          </a:solidFill>
          <a:ln/>
        </p:spPr>
      </p:sp>
      <p:sp>
        <p:nvSpPr>
          <p:cNvPr id="700493464" name="Text 27"/>
          <p:cNvSpPr/>
          <p:nvPr/>
        </p:nvSpPr>
        <p:spPr bwMode="auto">
          <a:xfrm>
            <a:off x="1143000" y="6197600"/>
            <a:ext cx="14351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Key message:</a:t>
            </a:r>
            <a:r>
              <a:rPr lang="en-US" sz="1400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 Face verification is the lock on the first door to financial services. The core problem is not detecting known forgeries but generalising to unseen ones — attackers always use newer tools.</a:t>
            </a:r>
            <a:endParaRPr lang="en-US" sz="1400"/>
          </a:p>
        </p:txBody>
      </p:sp>
      <p:sp>
        <p:nvSpPr>
          <p:cNvPr id="588193958" name="Text 28"/>
          <p:cNvSpPr/>
          <p:nvPr/>
        </p:nvSpPr>
        <p:spPr bwMode="auto"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  <a:defRPr/>
            </a:pPr>
            <a:r>
              <a:rPr lang="en-US" sz="14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4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6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60889" name="Shape 0"/>
          <p:cNvSpPr/>
          <p:nvPr/>
        </p:nvSpPr>
        <p:spPr bwMode="auto"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384784760" name="Shape 1"/>
          <p:cNvSpPr/>
          <p:nvPr/>
        </p:nvSpPr>
        <p:spPr bwMode="auto"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619194570" name="Text 2"/>
          <p:cNvSpPr/>
          <p:nvPr/>
        </p:nvSpPr>
        <p:spPr bwMode="auto"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  <a:defRPr/>
            </a:pPr>
            <a:r>
              <a:rPr lang="en-US" sz="12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01 Project Overview</a:t>
            </a:r>
            <a:endParaRPr lang="en-US" sz="1200"/>
          </a:p>
        </p:txBody>
      </p:sp>
      <p:sp>
        <p:nvSpPr>
          <p:cNvPr id="511370843" name="Text 3"/>
          <p:cNvSpPr/>
          <p:nvPr/>
        </p:nvSpPr>
        <p:spPr bwMode="auto"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Objectives and Scope: Two-Layer Protection System</a:t>
            </a:r>
            <a:endParaRPr lang="en-US" sz="2400"/>
          </a:p>
        </p:txBody>
      </p:sp>
      <p:sp>
        <p:nvSpPr>
          <p:cNvPr id="1448548796" name="Shape 4"/>
          <p:cNvSpPr/>
          <p:nvPr/>
        </p:nvSpPr>
        <p:spPr bwMode="auto">
          <a:xfrm>
            <a:off x="508000" y="863599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8474508" name="Shape 5"/>
          <p:cNvSpPr/>
          <p:nvPr/>
        </p:nvSpPr>
        <p:spPr bwMode="auto">
          <a:xfrm>
            <a:off x="508000" y="1041400"/>
            <a:ext cx="7302500" cy="508000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</p:sp>
      <p:sp>
        <p:nvSpPr>
          <p:cNvPr id="703600712" name="Text 6"/>
          <p:cNvSpPr/>
          <p:nvPr/>
        </p:nvSpPr>
        <p:spPr bwMode="auto">
          <a:xfrm>
            <a:off x="508000" y="1041400"/>
            <a:ext cx="7302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Four Objectives</a:t>
            </a:r>
            <a:endParaRPr lang="en-US" sz="1600"/>
          </a:p>
        </p:txBody>
      </p:sp>
      <p:sp>
        <p:nvSpPr>
          <p:cNvPr id="513086925" name="Shape 7"/>
          <p:cNvSpPr/>
          <p:nvPr/>
        </p:nvSpPr>
        <p:spPr bwMode="auto">
          <a:xfrm>
            <a:off x="508000" y="1549400"/>
            <a:ext cx="7302500" cy="5334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1559809488" name="Text 8"/>
          <p:cNvSpPr/>
          <p:nvPr/>
        </p:nvSpPr>
        <p:spPr bwMode="auto">
          <a:xfrm>
            <a:off x="711200" y="1701800"/>
            <a:ext cx="68961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  <a:defRPr/>
            </a:pPr>
            <a:r>
              <a:rPr lang="en-US" sz="15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Obj 1 — Web Platform</a:t>
            </a:r>
            <a:endParaRPr lang="en-US" sz="1500"/>
          </a:p>
          <a:p>
            <a:pPr algn="l">
              <a:lnSpc>
                <a:spcPct val="160000"/>
              </a:lnSpc>
              <a:defRPr/>
            </a:pPr>
            <a:r>
              <a:rPr lang="en-US" sz="15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Simple platform to upload or capture a face, fast result</a:t>
            </a:r>
            <a:endParaRPr lang="en-US" sz="1500"/>
          </a:p>
          <a:p>
            <a:pPr algn="l">
              <a:lnSpc>
                <a:spcPct val="160000"/>
              </a:lnSpc>
              <a:spcBef>
                <a:spcPts val="1000"/>
              </a:spcBef>
              <a:defRPr/>
            </a:pPr>
            <a:r>
              <a:rPr lang="en-US" sz="15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Obj 2 — Deepfake Detector (Main Contribution)</a:t>
            </a:r>
            <a:endParaRPr lang="en-US" sz="1500"/>
          </a:p>
          <a:p>
            <a:pPr algn="l">
              <a:lnSpc>
                <a:spcPct val="160000"/>
              </a:lnSpc>
              <a:defRPr/>
            </a:pPr>
            <a:r>
              <a:rPr lang="en-US" sz="15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Fusing a block-DCT frequency branch with a CNN backbone via a gated attention, returning a heat map</a:t>
            </a:r>
            <a:endParaRPr lang="en-US" sz="1500"/>
          </a:p>
          <a:p>
            <a:pPr algn="l">
              <a:lnSpc>
                <a:spcPct val="160000"/>
              </a:lnSpc>
              <a:spcBef>
                <a:spcPts val="1000"/>
              </a:spcBef>
              <a:defRPr/>
            </a:pPr>
            <a:r>
              <a:rPr lang="en-US" sz="15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Obj 3 — Liveness Utility</a:t>
            </a:r>
            <a:endParaRPr lang="en-US" sz="1500"/>
          </a:p>
          <a:p>
            <a:pPr algn="l">
              <a:lnSpc>
                <a:spcPct val="160000"/>
              </a:lnSpc>
              <a:defRPr/>
            </a:pPr>
            <a:r>
              <a:rPr lang="en-US" sz="15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Secondary: live person vs. printed photo or screen replay</a:t>
            </a:r>
            <a:endParaRPr lang="en-US" sz="1500"/>
          </a:p>
          <a:p>
            <a:pPr algn="l">
              <a:lnSpc>
                <a:spcPct val="160000"/>
              </a:lnSpc>
              <a:spcBef>
                <a:spcPts val="1000"/>
              </a:spcBef>
              <a:defRPr/>
            </a:pPr>
            <a:r>
              <a:rPr lang="en-US" sz="15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Obj 4 — Cloud Deployment</a:t>
            </a:r>
            <a:endParaRPr lang="en-US" sz="1500"/>
          </a:p>
          <a:p>
            <a:pPr algn="l">
              <a:lnSpc>
                <a:spcPct val="160000"/>
              </a:lnSpc>
              <a:defRPr/>
            </a:pPr>
            <a:r>
              <a:rPr lang="en-US" sz="15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AWS EC2 deployment for always-on service</a:t>
            </a:r>
            <a:endParaRPr lang="en-US" sz="1500"/>
          </a:p>
        </p:txBody>
      </p:sp>
      <p:sp>
        <p:nvSpPr>
          <p:cNvPr id="1812216807" name="Shape 9"/>
          <p:cNvSpPr/>
          <p:nvPr/>
        </p:nvSpPr>
        <p:spPr bwMode="auto">
          <a:xfrm>
            <a:off x="8445500" y="1041400"/>
            <a:ext cx="7302500" cy="508000"/>
          </a:xfrm>
          <a:prstGeom prst="roundRect">
            <a:avLst>
              <a:gd name="adj" fmla="val 4000"/>
            </a:avLst>
          </a:prstGeom>
          <a:solidFill>
            <a:srgbClr val="2E86C1"/>
          </a:solidFill>
          <a:ln/>
        </p:spPr>
      </p:sp>
      <p:sp>
        <p:nvSpPr>
          <p:cNvPr id="1267414126" name="Text 10"/>
          <p:cNvSpPr/>
          <p:nvPr/>
        </p:nvSpPr>
        <p:spPr bwMode="auto">
          <a:xfrm>
            <a:off x="8445500" y="1041400"/>
            <a:ext cx="7302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Scope &amp; Boundaries</a:t>
            </a:r>
            <a:endParaRPr lang="en-US" sz="1600"/>
          </a:p>
        </p:txBody>
      </p:sp>
      <p:sp>
        <p:nvSpPr>
          <p:cNvPr id="1609157633" name="Shape 11"/>
          <p:cNvSpPr/>
          <p:nvPr/>
        </p:nvSpPr>
        <p:spPr bwMode="auto">
          <a:xfrm>
            <a:off x="8445500" y="1549400"/>
            <a:ext cx="7302500" cy="5334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713178740" name="Text 12"/>
          <p:cNvSpPr/>
          <p:nvPr/>
        </p:nvSpPr>
        <p:spPr bwMode="auto">
          <a:xfrm>
            <a:off x="8648700" y="1701800"/>
            <a:ext cx="68961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  <a:defRPr/>
            </a:pPr>
            <a:r>
              <a:rPr lang="en-US" sz="1500" b="1">
                <a:solidFill>
                  <a:srgbClr val="2E86C1"/>
                </a:solidFill>
                <a:latin typeface="Quattrocento Sans"/>
                <a:ea typeface="Quattrocento Sans"/>
                <a:cs typeface="Quattrocento Sans"/>
              </a:rPr>
              <a:t>In Scope</a:t>
            </a:r>
            <a:endParaRPr lang="en-US" sz="1500"/>
          </a:p>
          <a:p>
            <a:pPr algn="l">
              <a:lnSpc>
                <a:spcPct val="160000"/>
              </a:lnSpc>
              <a:defRPr/>
            </a:pPr>
            <a:r>
              <a:rPr lang="en-US" sz="15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Frame-level aligned faces</a:t>
            </a:r>
            <a:endParaRPr lang="en-US" sz="1500"/>
          </a:p>
          <a:p>
            <a:pPr algn="l">
              <a:lnSpc>
                <a:spcPct val="160000"/>
              </a:lnSpc>
              <a:defRPr/>
            </a:pPr>
            <a:r>
              <a:rPr lang="en-US" sz="15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No temporal information</a:t>
            </a:r>
            <a:endParaRPr lang="en-US" sz="1500"/>
          </a:p>
          <a:p>
            <a:pPr algn="l">
              <a:lnSpc>
                <a:spcPct val="160000"/>
              </a:lnSpc>
              <a:defRPr/>
            </a:pPr>
            <a:r>
              <a:rPr lang="en-US" sz="15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Cross-dataset: FF++ to Celeb-DF-v2</a:t>
            </a:r>
            <a:endParaRPr lang="en-US" sz="1500"/>
          </a:p>
          <a:p>
            <a:pPr algn="l">
              <a:lnSpc>
                <a:spcPct val="160000"/>
              </a:lnSpc>
              <a:spcBef>
                <a:spcPts val="1000"/>
              </a:spcBef>
              <a:defRPr/>
            </a:pPr>
            <a:r>
              <a:rPr lang="en-US" sz="1500" b="1">
                <a:solidFill>
                  <a:srgbClr val="2E86C1"/>
                </a:solidFill>
                <a:latin typeface="Quattrocento Sans"/>
                <a:ea typeface="Quattrocento Sans"/>
                <a:cs typeface="Quattrocento Sans"/>
              </a:rPr>
              <a:t>Out of Scope</a:t>
            </a:r>
            <a:endParaRPr lang="en-US" sz="1500"/>
          </a:p>
          <a:p>
            <a:pPr algn="l">
              <a:lnSpc>
                <a:spcPct val="160000"/>
              </a:lnSpc>
              <a:defRPr/>
            </a:pPr>
            <a:r>
              <a:rPr lang="en-US" sz="15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Video-level temporal modelling</a:t>
            </a:r>
            <a:endParaRPr lang="en-US" sz="1500"/>
          </a:p>
          <a:p>
            <a:pPr algn="l">
              <a:lnSpc>
                <a:spcPct val="160000"/>
              </a:lnSpc>
              <a:defRPr/>
            </a:pPr>
            <a:r>
              <a:rPr lang="en-US" sz="15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3D physical mask attacks</a:t>
            </a:r>
            <a:endParaRPr lang="en-US" sz="1500"/>
          </a:p>
          <a:p>
            <a:pPr algn="l">
              <a:lnSpc>
                <a:spcPct val="160000"/>
              </a:lnSpc>
              <a:defRPr/>
            </a:pPr>
            <a:r>
              <a:rPr lang="en-US" sz="15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Audio deepfake detection</a:t>
            </a:r>
            <a:endParaRPr lang="en-US" sz="1500"/>
          </a:p>
          <a:p>
            <a:pPr algn="l">
              <a:lnSpc>
                <a:spcPct val="160000"/>
              </a:lnSpc>
              <a:defRPr/>
            </a:pPr>
            <a:r>
              <a:rPr lang="en-US" sz="15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Direct injection attacks</a:t>
            </a:r>
            <a:endParaRPr lang="en-US" sz="1500"/>
          </a:p>
          <a:p>
            <a:pPr algn="l">
              <a:lnSpc>
                <a:spcPct val="160000"/>
              </a:lnSpc>
              <a:spcBef>
                <a:spcPts val="1000"/>
              </a:spcBef>
              <a:defRPr/>
            </a:pPr>
            <a:r>
              <a:rPr lang="en-US" sz="1500" b="1">
                <a:solidFill>
                  <a:srgbClr val="2E86C1"/>
                </a:solidFill>
                <a:latin typeface="Quattrocento Sans"/>
                <a:ea typeface="Quattrocento Sans"/>
                <a:cs typeface="Quattrocento Sans"/>
              </a:rPr>
              <a:t>Evaluation Protocol</a:t>
            </a:r>
            <a:endParaRPr lang="en-US" sz="1500"/>
          </a:p>
          <a:p>
            <a:pPr algn="l">
              <a:lnSpc>
                <a:spcPct val="160000"/>
              </a:lnSpc>
              <a:defRPr/>
            </a:pPr>
            <a:r>
              <a:rPr lang="en-US" sz="15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DeepfakeBench: train FF++, test Celeb-DF-v2</a:t>
            </a:r>
            <a:endParaRPr lang="en-US" sz="1500"/>
          </a:p>
        </p:txBody>
      </p:sp>
      <p:sp>
        <p:nvSpPr>
          <p:cNvPr id="1834617898" name="Shape 13"/>
          <p:cNvSpPr/>
          <p:nvPr/>
        </p:nvSpPr>
        <p:spPr bwMode="auto">
          <a:xfrm>
            <a:off x="508000" y="7112000"/>
            <a:ext cx="15240000" cy="762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  <a:ln/>
        </p:spPr>
      </p:sp>
      <p:sp>
        <p:nvSpPr>
          <p:cNvPr id="193103799" name="Text 14"/>
          <p:cNvSpPr/>
          <p:nvPr/>
        </p:nvSpPr>
        <p:spPr bwMode="auto">
          <a:xfrm>
            <a:off x="711200" y="7112000"/>
            <a:ext cx="148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Key message:</a:t>
            </a:r>
            <a:r>
              <a:rPr lang="en-US" sz="1400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 The main contribution is the block-DCT frequency branch fused via gated attention. The system is evaluated honestly by cross-dataset protocol: train on FF++, test on Celeb-DF-v2.</a:t>
            </a:r>
            <a:endParaRPr lang="en-US" sz="1400"/>
          </a:p>
        </p:txBody>
      </p:sp>
      <p:sp>
        <p:nvSpPr>
          <p:cNvPr id="1494499570" name="Text 15"/>
          <p:cNvSpPr/>
          <p:nvPr/>
        </p:nvSpPr>
        <p:spPr bwMode="auto"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  <a:defRPr/>
            </a:pPr>
            <a:r>
              <a:rPr lang="en-US" sz="14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5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6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554401" name="Shape 0"/>
          <p:cNvSpPr/>
          <p:nvPr/>
        </p:nvSpPr>
        <p:spPr bwMode="auto"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876576190" name="Shape 1"/>
          <p:cNvSpPr/>
          <p:nvPr/>
        </p:nvSpPr>
        <p:spPr bwMode="auto">
          <a:xfrm>
            <a:off x="6096000" y="1778000"/>
            <a:ext cx="12700" cy="55880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42822545" name="Text 2"/>
          <p:cNvSpPr/>
          <p:nvPr/>
        </p:nvSpPr>
        <p:spPr bwMode="auto">
          <a:xfrm>
            <a:off x="762000" y="2540000"/>
            <a:ext cx="4826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20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02</a:t>
            </a:r>
            <a:endParaRPr lang="en-US" sz="12000"/>
          </a:p>
        </p:txBody>
      </p:sp>
      <p:sp>
        <p:nvSpPr>
          <p:cNvPr id="1875889204" name="Text 3"/>
          <p:cNvSpPr/>
          <p:nvPr/>
        </p:nvSpPr>
        <p:spPr bwMode="auto">
          <a:xfrm>
            <a:off x="762000" y="5080000"/>
            <a:ext cx="482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600" spc="4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CHAPTER TWO</a:t>
            </a:r>
            <a:endParaRPr lang="en-US" sz="1600"/>
          </a:p>
        </p:txBody>
      </p:sp>
      <p:sp>
        <p:nvSpPr>
          <p:cNvPr id="1267108494" name="Text 4"/>
          <p:cNvSpPr/>
          <p:nvPr/>
        </p:nvSpPr>
        <p:spPr bwMode="auto">
          <a:xfrm>
            <a:off x="6604000" y="2997200"/>
            <a:ext cx="8890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  <a:defRPr/>
            </a:pPr>
            <a:r>
              <a:rPr lang="en-US" sz="36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Methodology</a:t>
            </a:r>
            <a:endParaRPr lang="en-US" sz="3600"/>
          </a:p>
        </p:txBody>
      </p:sp>
      <p:sp>
        <p:nvSpPr>
          <p:cNvPr id="901974256" name="Text 5"/>
          <p:cNvSpPr/>
          <p:nvPr/>
        </p:nvSpPr>
        <p:spPr bwMode="auto">
          <a:xfrm>
            <a:off x="6604000" y="38354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800">
                <a:solidFill>
                  <a:srgbClr val="AAAAAA"/>
                </a:solidFill>
                <a:latin typeface="Quattrocento Sans"/>
                <a:ea typeface="Quattrocento Sans"/>
                <a:cs typeface="Quattrocento Sans"/>
              </a:rPr>
              <a:t>Frequency Hypothesis, Block-DCT, Gated Fusion, SFDCT-HFF &amp; Liveness</a:t>
            </a:r>
            <a:endParaRPr lang="en-US" sz="1800"/>
          </a:p>
        </p:txBody>
      </p:sp>
      <p:sp>
        <p:nvSpPr>
          <p:cNvPr id="152178755" name="Shape 6"/>
          <p:cNvSpPr/>
          <p:nvPr/>
        </p:nvSpPr>
        <p:spPr bwMode="auto">
          <a:xfrm>
            <a:off x="6604000" y="4572000"/>
            <a:ext cx="4064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411876229" name="Text 7"/>
          <p:cNvSpPr/>
          <p:nvPr/>
        </p:nvSpPr>
        <p:spPr bwMode="auto">
          <a:xfrm>
            <a:off x="6604000" y="48260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6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2.1  Two-Stream SFDCT Architecture</a:t>
            </a:r>
            <a:endParaRPr lang="en-US" sz="1600"/>
          </a:p>
        </p:txBody>
      </p:sp>
      <p:sp>
        <p:nvSpPr>
          <p:cNvPr id="2042485115" name="Text 8"/>
          <p:cNvSpPr/>
          <p:nvPr/>
        </p:nvSpPr>
        <p:spPr bwMode="auto">
          <a:xfrm>
            <a:off x="6604000" y="52832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6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2.2  Block-DCT Descriptor</a:t>
            </a:r>
            <a:endParaRPr lang="en-US" sz="1600"/>
          </a:p>
        </p:txBody>
      </p:sp>
      <p:sp>
        <p:nvSpPr>
          <p:cNvPr id="327977799" name="Text 9"/>
          <p:cNvSpPr/>
          <p:nvPr/>
        </p:nvSpPr>
        <p:spPr bwMode="auto">
          <a:xfrm>
            <a:off x="6604000" y="57404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6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2.3  Gated Cross-Attention Fusion</a:t>
            </a:r>
            <a:endParaRPr lang="en-US" sz="1600"/>
          </a:p>
        </p:txBody>
      </p:sp>
      <p:sp>
        <p:nvSpPr>
          <p:cNvPr id="32685831" name="Text 10"/>
          <p:cNvSpPr/>
          <p:nvPr/>
        </p:nvSpPr>
        <p:spPr bwMode="auto">
          <a:xfrm>
            <a:off x="6604000" y="61976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6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2.4  SFDCT-HFF &amp; Liveness</a:t>
            </a:r>
            <a:endParaRPr lang="en-US" sz="1600"/>
          </a:p>
        </p:txBody>
      </p:sp>
      <p:sp>
        <p:nvSpPr>
          <p:cNvPr id="2044165720" name="Text 11"/>
          <p:cNvSpPr/>
          <p:nvPr/>
        </p:nvSpPr>
        <p:spPr bwMode="auto"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  <a:defRPr/>
            </a:pPr>
            <a:r>
              <a:rPr lang="en-US" sz="14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6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573524" name="Shape 0"/>
          <p:cNvSpPr/>
          <p:nvPr/>
        </p:nvSpPr>
        <p:spPr bwMode="auto"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228370375" name="Shape 1"/>
          <p:cNvSpPr/>
          <p:nvPr/>
        </p:nvSpPr>
        <p:spPr bwMode="auto"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1447453340" name="Text 2"/>
          <p:cNvSpPr/>
          <p:nvPr/>
        </p:nvSpPr>
        <p:spPr bwMode="auto"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  <a:defRPr/>
            </a:pPr>
            <a:r>
              <a:rPr lang="en-US" sz="12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02 Methodology</a:t>
            </a:r>
            <a:endParaRPr lang="en-US" sz="1200"/>
          </a:p>
        </p:txBody>
      </p:sp>
      <p:sp>
        <p:nvSpPr>
          <p:cNvPr id="1132779293" name="Shape 4"/>
          <p:cNvSpPr/>
          <p:nvPr/>
        </p:nvSpPr>
        <p:spPr bwMode="auto">
          <a:xfrm>
            <a:off x="508000" y="863599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1586162677" name="Text 3"/>
          <p:cNvSpPr/>
          <p:nvPr/>
        </p:nvSpPr>
        <p:spPr bwMode="auto"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Data Processing Pipeline</a:t>
            </a:r>
            <a:endParaRPr lang="en-US" sz="2400"/>
          </a:p>
        </p:txBody>
      </p:sp>
      <p:pic>
        <p:nvPicPr>
          <p:cNvPr id="488336596" name="Picture 1250200730" descr="fig_2_preprocess_pipelin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387387" y="1370182"/>
            <a:ext cx="11727661" cy="3154680"/>
          </a:xfrm>
          <a:prstGeom prst="rect">
            <a:avLst/>
          </a:prstGeom>
        </p:spPr>
      </p:pic>
      <p:pic>
        <p:nvPicPr>
          <p:cNvPr id="1693878215" name="Picture 1250200731" descr="fig_3_2_preprocess_realfak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520294" y="4128976"/>
            <a:ext cx="6215946" cy="41605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3296749" name="Shape 0"/>
          <p:cNvSpPr/>
          <p:nvPr/>
        </p:nvSpPr>
        <p:spPr bwMode="auto"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44537940" name="Shape 1"/>
          <p:cNvSpPr/>
          <p:nvPr/>
        </p:nvSpPr>
        <p:spPr bwMode="auto"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1196654375" name="Text 2"/>
          <p:cNvSpPr/>
          <p:nvPr/>
        </p:nvSpPr>
        <p:spPr bwMode="auto"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  <a:defRPr/>
            </a:pPr>
            <a:r>
              <a:rPr lang="en-US" sz="12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02 Methodology</a:t>
            </a:r>
            <a:endParaRPr lang="en-US" sz="1200"/>
          </a:p>
        </p:txBody>
      </p:sp>
      <p:sp>
        <p:nvSpPr>
          <p:cNvPr id="373810309" name="Shape 4"/>
          <p:cNvSpPr/>
          <p:nvPr/>
        </p:nvSpPr>
        <p:spPr bwMode="auto">
          <a:xfrm>
            <a:off x="508000" y="863599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47790123" name="Text 3"/>
          <p:cNvSpPr/>
          <p:nvPr/>
        </p:nvSpPr>
        <p:spPr bwMode="auto"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Forgery Footprints — FF++ Manipulations</a:t>
            </a:r>
            <a:endParaRPr lang="en-US" sz="2400"/>
          </a:p>
        </p:txBody>
      </p:sp>
      <p:pic>
        <p:nvPicPr>
          <p:cNvPr id="774120144" name="Picture 1250200730" descr="fig_ff_manipulations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0080" y="1370119"/>
            <a:ext cx="14996160" cy="7089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6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3192750" name="Shape 0"/>
          <p:cNvSpPr/>
          <p:nvPr/>
        </p:nvSpPr>
        <p:spPr bwMode="auto"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328705587" name="Shape 1"/>
          <p:cNvSpPr/>
          <p:nvPr/>
        </p:nvSpPr>
        <p:spPr bwMode="auto"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546031053" name="Text 2"/>
          <p:cNvSpPr/>
          <p:nvPr/>
        </p:nvSpPr>
        <p:spPr bwMode="auto"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  <a:defRPr/>
            </a:pPr>
            <a:r>
              <a:rPr lang="en-US" sz="12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02 Methodology</a:t>
            </a:r>
            <a:endParaRPr lang="en-US" sz="1200"/>
          </a:p>
        </p:txBody>
      </p:sp>
      <p:sp>
        <p:nvSpPr>
          <p:cNvPr id="1206266966" name="Text 3"/>
          <p:cNvSpPr/>
          <p:nvPr/>
        </p:nvSpPr>
        <p:spPr bwMode="auto"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The Frequency Hypothesis and Two-Stream SFDCT</a:t>
            </a:r>
            <a:endParaRPr lang="en-US" sz="2400"/>
          </a:p>
        </p:txBody>
      </p:sp>
      <p:sp>
        <p:nvSpPr>
          <p:cNvPr id="803351709" name="Shape 4"/>
          <p:cNvSpPr/>
          <p:nvPr/>
        </p:nvSpPr>
        <p:spPr bwMode="auto">
          <a:xfrm>
            <a:off x="508000" y="863599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1324846691" name="Shape 5"/>
          <p:cNvSpPr/>
          <p:nvPr/>
        </p:nvSpPr>
        <p:spPr bwMode="auto">
          <a:xfrm>
            <a:off x="508000" y="1041400"/>
            <a:ext cx="3302000" cy="3810000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1509283725" name="Text 6"/>
          <p:cNvSpPr/>
          <p:nvPr/>
        </p:nvSpPr>
        <p:spPr bwMode="auto">
          <a:xfrm>
            <a:off x="508000" y="114300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  <a:defRPr/>
            </a:pPr>
            <a:r>
              <a:rPr lang="en-US" sz="2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01</a:t>
            </a:r>
            <a:endParaRPr lang="en-US" sz="2800"/>
          </a:p>
        </p:txBody>
      </p:sp>
      <p:sp>
        <p:nvSpPr>
          <p:cNvPr id="2125621704" name="Text 7"/>
          <p:cNvSpPr/>
          <p:nvPr/>
        </p:nvSpPr>
        <p:spPr bwMode="auto">
          <a:xfrm>
            <a:off x="635000" y="1701800"/>
            <a:ext cx="304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Input: Aligned Face</a:t>
            </a:r>
            <a:endParaRPr lang="en-US" sz="1400"/>
          </a:p>
        </p:txBody>
      </p:sp>
      <p:sp>
        <p:nvSpPr>
          <p:cNvPr id="886933611" name="Text 8"/>
          <p:cNvSpPr/>
          <p:nvPr/>
        </p:nvSpPr>
        <p:spPr bwMode="auto">
          <a:xfrm>
            <a:off x="660400" y="2057400"/>
            <a:ext cx="29972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  <a:defRPr/>
            </a:pPr>
            <a:r>
              <a:rPr lang="en-US" sz="1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• 256x256 RGB crop</a:t>
            </a:r>
            <a:endParaRPr lang="en-US" sz="1200"/>
          </a:p>
          <a:p>
            <a:pPr algn="l">
              <a:lnSpc>
                <a:spcPct val="160000"/>
              </a:lnSpc>
              <a:defRPr/>
            </a:pPr>
            <a:r>
              <a:rPr lang="en-US" sz="1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• MTCNN-aligned</a:t>
            </a:r>
            <a:endParaRPr lang="en-US" sz="1200"/>
          </a:p>
          <a:p>
            <a:pPr algn="l">
              <a:lnSpc>
                <a:spcPct val="160000"/>
              </a:lnSpc>
              <a:defRPr/>
            </a:pPr>
            <a:r>
              <a:rPr lang="en-US" sz="1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• Fed into two parallel streams simultaneously</a:t>
            </a:r>
            <a:endParaRPr lang="en-US" sz="1200"/>
          </a:p>
        </p:txBody>
      </p:sp>
      <p:sp>
        <p:nvSpPr>
          <p:cNvPr id="1399123371" name="Shape 9"/>
          <p:cNvSpPr/>
          <p:nvPr/>
        </p:nvSpPr>
        <p:spPr bwMode="auto">
          <a:xfrm>
            <a:off x="3911600" y="2794000"/>
            <a:ext cx="381000" cy="20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98160367" name="Shape 10"/>
          <p:cNvSpPr/>
          <p:nvPr/>
        </p:nvSpPr>
        <p:spPr bwMode="auto">
          <a:xfrm>
            <a:off x="4394200" y="1041400"/>
            <a:ext cx="3302000" cy="3810000"/>
          </a:xfrm>
          <a:prstGeom prst="roundRect">
            <a:avLst>
              <a:gd name="adj" fmla="val 4000"/>
            </a:avLst>
          </a:prstGeom>
          <a:solidFill>
            <a:srgbClr val="5B9BD5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321781620" name="Text 11"/>
          <p:cNvSpPr/>
          <p:nvPr/>
        </p:nvSpPr>
        <p:spPr bwMode="auto">
          <a:xfrm>
            <a:off x="4394200" y="114300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  <a:defRPr/>
            </a:pPr>
            <a:r>
              <a:rPr lang="en-US" sz="2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02</a:t>
            </a:r>
            <a:endParaRPr lang="en-US" sz="2800"/>
          </a:p>
        </p:txBody>
      </p:sp>
      <p:sp>
        <p:nvSpPr>
          <p:cNvPr id="1523179024" name="Text 12"/>
          <p:cNvSpPr/>
          <p:nvPr/>
        </p:nvSpPr>
        <p:spPr bwMode="auto">
          <a:xfrm>
            <a:off x="4521200" y="1701800"/>
            <a:ext cx="304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Spatial Stream</a:t>
            </a:r>
            <a:endParaRPr lang="en-US" sz="1400"/>
          </a:p>
        </p:txBody>
      </p:sp>
      <p:sp>
        <p:nvSpPr>
          <p:cNvPr id="1684947856" name="Text 13"/>
          <p:cNvSpPr/>
          <p:nvPr/>
        </p:nvSpPr>
        <p:spPr bwMode="auto">
          <a:xfrm>
            <a:off x="4546600" y="2057400"/>
            <a:ext cx="29972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  <a:defRPr/>
            </a:pPr>
            <a:r>
              <a:rPr lang="en-US" sz="1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• EfficientNet-B4</a:t>
            </a:r>
            <a:endParaRPr lang="en-US" sz="1200"/>
          </a:p>
          <a:p>
            <a:pPr algn="l">
              <a:lnSpc>
                <a:spcPct val="160000"/>
              </a:lnSpc>
              <a:defRPr/>
            </a:pPr>
            <a:r>
              <a:rPr lang="en-US" sz="1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• ImageNet-pretrained</a:t>
            </a:r>
            <a:endParaRPr lang="en-US" sz="1200"/>
          </a:p>
          <a:p>
            <a:pPr algn="l">
              <a:lnSpc>
                <a:spcPct val="160000"/>
              </a:lnSpc>
              <a:defRPr/>
            </a:pPr>
            <a:r>
              <a:rPr lang="en-US" sz="1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• Reads pixel domain</a:t>
            </a:r>
            <a:endParaRPr lang="en-US" sz="1200"/>
          </a:p>
          <a:p>
            <a:pPr algn="l">
              <a:lnSpc>
                <a:spcPct val="160000"/>
              </a:lnSpc>
              <a:defRPr/>
            </a:pPr>
            <a:r>
              <a:rPr lang="en-US" sz="1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• Outputs feature map Fs</a:t>
            </a:r>
            <a:endParaRPr lang="en-US" sz="1200"/>
          </a:p>
        </p:txBody>
      </p:sp>
      <p:sp>
        <p:nvSpPr>
          <p:cNvPr id="1186409636" name="Shape 14"/>
          <p:cNvSpPr/>
          <p:nvPr/>
        </p:nvSpPr>
        <p:spPr bwMode="auto">
          <a:xfrm>
            <a:off x="7797800" y="2794000"/>
            <a:ext cx="381000" cy="20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991498850" name="Shape 15"/>
          <p:cNvSpPr/>
          <p:nvPr/>
        </p:nvSpPr>
        <p:spPr bwMode="auto">
          <a:xfrm>
            <a:off x="8280400" y="1041400"/>
            <a:ext cx="3302000" cy="3810000"/>
          </a:xfrm>
          <a:prstGeom prst="roundRect">
            <a:avLst>
              <a:gd name="adj" fmla="val 4000"/>
            </a:avLst>
          </a:prstGeom>
          <a:solidFill>
            <a:srgbClr val="2E86C1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49805967" name="Text 16"/>
          <p:cNvSpPr/>
          <p:nvPr/>
        </p:nvSpPr>
        <p:spPr bwMode="auto">
          <a:xfrm>
            <a:off x="8280400" y="114300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  <a:defRPr/>
            </a:pPr>
            <a:r>
              <a:rPr lang="en-US" sz="2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03</a:t>
            </a:r>
            <a:endParaRPr lang="en-US" sz="2800"/>
          </a:p>
        </p:txBody>
      </p:sp>
      <p:sp>
        <p:nvSpPr>
          <p:cNvPr id="1391494839" name="Text 17"/>
          <p:cNvSpPr/>
          <p:nvPr/>
        </p:nvSpPr>
        <p:spPr bwMode="auto">
          <a:xfrm>
            <a:off x="8407400" y="1701800"/>
            <a:ext cx="304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Frequency Stream</a:t>
            </a:r>
            <a:endParaRPr lang="en-US" sz="1400"/>
          </a:p>
        </p:txBody>
      </p:sp>
      <p:sp>
        <p:nvSpPr>
          <p:cNvPr id="815748754" name="Text 18"/>
          <p:cNvSpPr/>
          <p:nvPr/>
        </p:nvSpPr>
        <p:spPr bwMode="auto">
          <a:xfrm>
            <a:off x="8432800" y="2057400"/>
            <a:ext cx="29972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  <a:defRPr/>
            </a:pPr>
            <a:r>
              <a:rPr lang="en-US" sz="1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• YCbCr 8x8 block-DCT</a:t>
            </a:r>
            <a:endParaRPr lang="en-US" sz="1200"/>
          </a:p>
          <a:p>
            <a:pPr algn="l">
              <a:lnSpc>
                <a:spcPct val="160000"/>
              </a:lnSpc>
              <a:defRPr/>
            </a:pPr>
            <a:r>
              <a:rPr lang="en-US" sz="1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• 16 zigzag bands x 3 ch</a:t>
            </a:r>
            <a:endParaRPr lang="en-US" sz="1200"/>
          </a:p>
          <a:p>
            <a:pPr algn="l">
              <a:lnSpc>
                <a:spcPct val="160000"/>
              </a:lnSpc>
              <a:defRPr/>
            </a:pPr>
            <a:r>
              <a:rPr lang="en-US" sz="1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• 48-dim descriptor</a:t>
            </a:r>
            <a:endParaRPr lang="en-US" sz="1200"/>
          </a:p>
          <a:p>
            <a:pPr algn="l">
              <a:lnSpc>
                <a:spcPct val="160000"/>
              </a:lnSpc>
              <a:defRPr/>
            </a:pPr>
            <a:r>
              <a:rPr lang="en-US" sz="1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• Zero learnable params</a:t>
            </a:r>
            <a:endParaRPr lang="en-US" sz="1200"/>
          </a:p>
        </p:txBody>
      </p:sp>
      <p:sp>
        <p:nvSpPr>
          <p:cNvPr id="1813631872" name="Shape 19"/>
          <p:cNvSpPr/>
          <p:nvPr/>
        </p:nvSpPr>
        <p:spPr bwMode="auto">
          <a:xfrm>
            <a:off x="11684000" y="2794000"/>
            <a:ext cx="381000" cy="20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361515322" name="Shape 20"/>
          <p:cNvSpPr/>
          <p:nvPr/>
        </p:nvSpPr>
        <p:spPr bwMode="auto">
          <a:xfrm>
            <a:off x="12166600" y="1041400"/>
            <a:ext cx="3581400" cy="3810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1A4A7A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08288642" name="Text 21"/>
          <p:cNvSpPr/>
          <p:nvPr/>
        </p:nvSpPr>
        <p:spPr bwMode="auto">
          <a:xfrm>
            <a:off x="12166600" y="1143000"/>
            <a:ext cx="358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  <a:defRPr/>
            </a:pPr>
            <a:r>
              <a:rPr lang="en-US" sz="28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04</a:t>
            </a:r>
            <a:endParaRPr lang="en-US" sz="2800"/>
          </a:p>
        </p:txBody>
      </p:sp>
      <p:sp>
        <p:nvSpPr>
          <p:cNvPr id="2058617975" name="Text 22"/>
          <p:cNvSpPr/>
          <p:nvPr/>
        </p:nvSpPr>
        <p:spPr bwMode="auto">
          <a:xfrm>
            <a:off x="12293600" y="1701800"/>
            <a:ext cx="3327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4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Gated Fusion + Head</a:t>
            </a:r>
            <a:endParaRPr lang="en-US" sz="1400"/>
          </a:p>
        </p:txBody>
      </p:sp>
      <p:sp>
        <p:nvSpPr>
          <p:cNvPr id="1861261716" name="Text 23"/>
          <p:cNvSpPr/>
          <p:nvPr/>
        </p:nvSpPr>
        <p:spPr bwMode="auto">
          <a:xfrm>
            <a:off x="12319000" y="2057400"/>
            <a:ext cx="32766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  <a:defRPr/>
            </a:pPr>
            <a:r>
              <a:rPr lang="en-US" sz="12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Cross-attention merge</a:t>
            </a:r>
            <a:endParaRPr lang="en-US" sz="1200"/>
          </a:p>
          <a:p>
            <a:pPr algn="l">
              <a:lnSpc>
                <a:spcPct val="160000"/>
              </a:lnSpc>
              <a:defRPr/>
            </a:pPr>
            <a:r>
              <a:rPr lang="en-US" sz="12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Spatial queries frequency</a:t>
            </a:r>
            <a:endParaRPr lang="en-US" sz="1200"/>
          </a:p>
          <a:p>
            <a:pPr algn="l">
              <a:lnSpc>
                <a:spcPct val="160000"/>
              </a:lnSpc>
              <a:defRPr/>
            </a:pPr>
            <a:r>
              <a:rPr lang="en-US" sz="12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Zero-init gate alpha</a:t>
            </a:r>
            <a:endParaRPr lang="en-US" sz="1200"/>
          </a:p>
          <a:p>
            <a:pPr algn="l">
              <a:lnSpc>
                <a:spcPct val="160000"/>
              </a:lnSpc>
              <a:defRPr/>
            </a:pPr>
            <a:r>
              <a:rPr lang="en-US" sz="12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Real-or-fake classifier</a:t>
            </a:r>
            <a:endParaRPr lang="en-US" sz="1200"/>
          </a:p>
        </p:txBody>
      </p:sp>
      <p:sp>
        <p:nvSpPr>
          <p:cNvPr id="814492674" name="Shape 24"/>
          <p:cNvSpPr/>
          <p:nvPr/>
        </p:nvSpPr>
        <p:spPr bwMode="auto">
          <a:xfrm>
            <a:off x="508000" y="5080000"/>
            <a:ext cx="15240000" cy="1524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72709505" name="Text 25"/>
          <p:cNvSpPr/>
          <p:nvPr/>
        </p:nvSpPr>
        <p:spPr bwMode="auto">
          <a:xfrm>
            <a:off x="711200" y="51562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5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The Frequency Hypothesis</a:t>
            </a:r>
            <a:endParaRPr lang="en-US" sz="1500"/>
          </a:p>
        </p:txBody>
      </p:sp>
      <p:sp>
        <p:nvSpPr>
          <p:cNvPr id="1606238221" name="Text 26"/>
          <p:cNvSpPr/>
          <p:nvPr/>
        </p:nvSpPr>
        <p:spPr bwMode="auto">
          <a:xfrm>
            <a:off x="711200" y="5511800"/>
            <a:ext cx="148336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  <a:defRPr/>
            </a:pPr>
            <a:r>
              <a:rPr lang="en-US" sz="13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</a:t>
            </a:r>
            <a:r>
              <a:rPr lang="en-US" sz="13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Blending boundary</a:t>
            </a:r>
            <a:r>
              <a:rPr lang="en-US" sz="13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: face-swap paste leaves a seam detectable in mid-frequency bands</a:t>
            </a:r>
            <a:endParaRPr lang="en-US" sz="1300"/>
          </a:p>
          <a:p>
            <a:pPr algn="l">
              <a:lnSpc>
                <a:spcPct val="160000"/>
              </a:lnSpc>
              <a:defRPr/>
            </a:pPr>
            <a:r>
              <a:rPr lang="en-US" sz="13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</a:t>
            </a:r>
            <a:r>
              <a:rPr lang="en-US" sz="13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Upsampling artifact</a:t>
            </a:r>
            <a:r>
              <a:rPr lang="en-US" sz="13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: GAN generators leave periodic patterns in high-frequency bands</a:t>
            </a:r>
            <a:endParaRPr lang="en-US" sz="1300"/>
          </a:p>
          <a:p>
            <a:pPr algn="l">
              <a:lnSpc>
                <a:spcPct val="160000"/>
              </a:lnSpc>
              <a:defRPr/>
            </a:pPr>
            <a:r>
              <a:rPr lang="en-US" sz="13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</a:t>
            </a:r>
            <a:r>
              <a:rPr lang="en-US" sz="13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Frequency inconsistency</a:t>
            </a:r>
            <a:r>
              <a:rPr lang="en-US" sz="13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: spliced sources break the unified frequency signature of real camera capture</a:t>
            </a:r>
            <a:endParaRPr lang="en-US" sz="1300"/>
          </a:p>
        </p:txBody>
      </p:sp>
      <p:sp>
        <p:nvSpPr>
          <p:cNvPr id="554587901" name="Shape 27"/>
          <p:cNvSpPr/>
          <p:nvPr/>
        </p:nvSpPr>
        <p:spPr bwMode="auto">
          <a:xfrm>
            <a:off x="508000" y="6807200"/>
            <a:ext cx="15240000" cy="762000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68698780" name="Text 28"/>
          <p:cNvSpPr/>
          <p:nvPr/>
        </p:nvSpPr>
        <p:spPr bwMode="auto">
          <a:xfrm>
            <a:off x="711200" y="6807200"/>
            <a:ext cx="148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Key message:</a:t>
            </a:r>
            <a:r>
              <a:rPr lang="en-US" sz="1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 Forgery traces are faint in pixels but loud in mid/high DCT bands. SFDCT reads both views — spatial (pixels) and frequency (DCT) — then merges them via a learned gate that starts closed.</a:t>
            </a:r>
            <a:endParaRPr lang="en-US" sz="1400"/>
          </a:p>
        </p:txBody>
      </p:sp>
      <p:sp>
        <p:nvSpPr>
          <p:cNvPr id="1153668820" name="Text 29"/>
          <p:cNvSpPr/>
          <p:nvPr/>
        </p:nvSpPr>
        <p:spPr bwMode="auto"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  <a:defRPr/>
            </a:pPr>
            <a:r>
              <a:rPr lang="en-US" sz="14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7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997092" name="Shape 0"/>
          <p:cNvSpPr/>
          <p:nvPr/>
        </p:nvSpPr>
        <p:spPr bwMode="auto"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22753651" name="Shape 1"/>
          <p:cNvSpPr/>
          <p:nvPr/>
        </p:nvSpPr>
        <p:spPr bwMode="auto"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05283801" name="Text 2"/>
          <p:cNvSpPr/>
          <p:nvPr/>
        </p:nvSpPr>
        <p:spPr bwMode="auto"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  <a:defRPr/>
            </a:pPr>
            <a:r>
              <a:rPr lang="en-US" sz="12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02 Methodology</a:t>
            </a:r>
            <a:endParaRPr lang="en-US" sz="1200"/>
          </a:p>
        </p:txBody>
      </p:sp>
      <p:sp>
        <p:nvSpPr>
          <p:cNvPr id="1153695470" name="Shape 4"/>
          <p:cNvSpPr/>
          <p:nvPr/>
        </p:nvSpPr>
        <p:spPr bwMode="auto">
          <a:xfrm>
            <a:off x="508000" y="863599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186965619" name="Text 3"/>
          <p:cNvSpPr/>
          <p:nvPr/>
        </p:nvSpPr>
        <p:spPr bwMode="auto"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SFDCT — Two-Stream Architecture</a:t>
            </a:r>
            <a:endParaRPr lang="en-US" sz="2400"/>
          </a:p>
        </p:txBody>
      </p:sp>
      <p:pic>
        <p:nvPicPr>
          <p:cNvPr id="918256201" name="Picture 1250200730" descr="fig_sfdct_architecture_final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946480" y="1234440"/>
            <a:ext cx="10383359" cy="4937760"/>
          </a:xfrm>
          <a:prstGeom prst="rect">
            <a:avLst/>
          </a:prstGeom>
        </p:spPr>
      </p:pic>
      <p:pic>
        <p:nvPicPr>
          <p:cNvPr id="272538056" name="Picture 1250200731" descr="fig_3_11_frequency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861072" y="5280482"/>
            <a:ext cx="5363519" cy="34913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6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8452290" name="Shape 0"/>
          <p:cNvSpPr/>
          <p:nvPr/>
        </p:nvSpPr>
        <p:spPr bwMode="auto"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232529994" name="Shape 1"/>
          <p:cNvSpPr/>
          <p:nvPr/>
        </p:nvSpPr>
        <p:spPr bwMode="auto"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096449527" name="Text 2"/>
          <p:cNvSpPr/>
          <p:nvPr/>
        </p:nvSpPr>
        <p:spPr bwMode="auto"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  <a:defRPr/>
            </a:pPr>
            <a:r>
              <a:rPr lang="en-US" sz="12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02 Methodology</a:t>
            </a:r>
            <a:endParaRPr lang="en-US" sz="1200"/>
          </a:p>
        </p:txBody>
      </p:sp>
      <p:sp>
        <p:nvSpPr>
          <p:cNvPr id="793572898" name="Text 3"/>
          <p:cNvSpPr/>
          <p:nvPr/>
        </p:nvSpPr>
        <p:spPr bwMode="auto"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From 8x8 Block-DCT to a 48-Dim Descriptor</a:t>
            </a:r>
            <a:endParaRPr lang="en-US" sz="2400"/>
          </a:p>
        </p:txBody>
      </p:sp>
      <p:sp>
        <p:nvSpPr>
          <p:cNvPr id="1968186770" name="Shape 4"/>
          <p:cNvSpPr/>
          <p:nvPr/>
        </p:nvSpPr>
        <p:spPr bwMode="auto">
          <a:xfrm>
            <a:off x="508000" y="863599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pic>
        <p:nvPicPr>
          <p:cNvPr id="76382596" name="Image 0" descr="https://kimi-img.moonshot.cn/pub/slides/okc/hkquy3b5iazna/mnt/agents/output/ekyc_defense/images/4_A_Deep_Learning_Approach_in_the_DCT.png"/>
          <p:cNvPicPr>
            <a:picLocks noChangeAspect="1"/>
          </p:cNvPicPr>
          <p:nvPr/>
        </p:nvPicPr>
        <p:blipFill rotWithShape="1">
          <a:blip r:embed="rId3"/>
          <a:srcRect l="0" t="0" r="0" b="0"/>
          <a:stretch/>
        </p:blipFill>
        <p:spPr bwMode="auto">
          <a:xfrm>
            <a:off x="508000" y="1041400"/>
            <a:ext cx="5080000" cy="2794000"/>
          </a:xfrm>
          <a:prstGeom prst="roundRect">
            <a:avLst>
              <a:gd name="adj" fmla="val 4000"/>
            </a:avLst>
          </a:prstGeom>
        </p:spPr>
      </p:pic>
      <p:sp>
        <p:nvSpPr>
          <p:cNvPr id="1089288830" name="Text 5"/>
          <p:cNvSpPr/>
          <p:nvPr/>
        </p:nvSpPr>
        <p:spPr bwMode="auto">
          <a:xfrm>
            <a:off x="508000" y="3886200"/>
            <a:ext cx="508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1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</a:rPr>
              <a:t>Channel-wise 2D-DCT: Time domain to Frequency domain</a:t>
            </a:r>
            <a:endParaRPr lang="en-US" sz="1100"/>
          </a:p>
        </p:txBody>
      </p:sp>
      <p:sp>
        <p:nvSpPr>
          <p:cNvPr id="1188470415" name="Text 6"/>
          <p:cNvSpPr/>
          <p:nvPr/>
        </p:nvSpPr>
        <p:spPr bwMode="auto">
          <a:xfrm>
            <a:off x="5842000" y="1041400"/>
            <a:ext cx="990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6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Descriptor Construction Pipeline</a:t>
            </a:r>
            <a:endParaRPr lang="en-US" sz="1600"/>
          </a:p>
        </p:txBody>
      </p:sp>
      <p:sp>
        <p:nvSpPr>
          <p:cNvPr id="508186925" name="Shape 7"/>
          <p:cNvSpPr/>
          <p:nvPr/>
        </p:nvSpPr>
        <p:spPr bwMode="auto">
          <a:xfrm>
            <a:off x="5842000" y="1422400"/>
            <a:ext cx="9906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07352814" name="Text 8"/>
          <p:cNvSpPr/>
          <p:nvPr/>
        </p:nvSpPr>
        <p:spPr bwMode="auto">
          <a:xfrm>
            <a:off x="5842000" y="1524000"/>
            <a:ext cx="990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  <a:defRPr/>
            </a:pPr>
            <a:r>
              <a:rPr lang="en-US" sz="14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1. Colour space conversion</a:t>
            </a: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 — RGB to YCbCr to separate luminance from chrominance</a:t>
            </a:r>
            <a:endParaRPr lang="en-US" sz="1400"/>
          </a:p>
          <a:p>
            <a:pPr algn="l">
              <a:lnSpc>
                <a:spcPct val="160000"/>
              </a:lnSpc>
              <a:defRPr/>
            </a:pPr>
            <a:r>
              <a:rPr lang="en-US" sz="14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2. Block partition</a:t>
            </a: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 — Non-overlapping 8x8 blocks (matches JPEG grid)</a:t>
            </a:r>
            <a:endParaRPr lang="en-US" sz="1400"/>
          </a:p>
          <a:p>
            <a:pPr algn="l">
              <a:lnSpc>
                <a:spcPct val="160000"/>
              </a:lnSpc>
              <a:defRPr/>
            </a:pPr>
            <a:r>
              <a:rPr lang="en-US" sz="14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3. Per-block 2D-DCT</a:t>
            </a: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 — 64 coefficients per block</a:t>
            </a:r>
            <a:endParaRPr lang="en-US" sz="1400"/>
          </a:p>
          <a:p>
            <a:pPr algn="l">
              <a:lnSpc>
                <a:spcPct val="160000"/>
              </a:lnSpc>
              <a:defRPr/>
            </a:pPr>
            <a:r>
              <a:rPr lang="en-US" sz="14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4. Log-magnitude rescale</a:t>
            </a: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 — log(1+|coeff|) prevents DC from swamping artefacts</a:t>
            </a:r>
            <a:endParaRPr lang="en-US" sz="1400"/>
          </a:p>
          <a:p>
            <a:pPr algn="l">
              <a:lnSpc>
                <a:spcPct val="160000"/>
              </a:lnSpc>
              <a:defRPr/>
            </a:pPr>
            <a:r>
              <a:rPr lang="en-US" sz="14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5. Zigzag grouping</a:t>
            </a: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 — 64 coeffs grouped into 16 bands (floor(rank/4))</a:t>
            </a:r>
            <a:endParaRPr lang="en-US" sz="1400"/>
          </a:p>
          <a:p>
            <a:pPr algn="l">
              <a:lnSpc>
                <a:spcPct val="160000"/>
              </a:lnSpc>
              <a:defRPr/>
            </a:pPr>
            <a:r>
              <a:rPr lang="en-US" sz="14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6. Per-band mean</a:t>
            </a: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 — 16 bands x 3 channels = </a:t>
            </a:r>
            <a:r>
              <a:rPr lang="en-US" sz="14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48-dim descriptor</a:t>
            </a:r>
            <a:endParaRPr lang="en-US" sz="1400"/>
          </a:p>
        </p:txBody>
      </p:sp>
      <p:graphicFrame>
        <p:nvGraphicFramePr>
          <p:cNvPr id="158139036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508000" y="4318000"/>
          <a:ext cx="15240000" cy="22860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048000"/>
                <a:gridCol w="3048000"/>
                <a:gridCol w="3048000"/>
                <a:gridCol w="3048000"/>
                <a:gridCol w="3048000"/>
              </a:tblGrid>
              <a:tr h="5715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Band Range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Frequency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Content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Forgery Trace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1A4A7A"/>
                    </a:solidFill>
                  </a:tcPr>
                </a:tc>
              </a:tr>
              <a:tr h="5715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rgbClr val="2C2C2C"/>
                          </a:solidFill>
                        </a:rPr>
                        <a:t>0 (DC only)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rgbClr val="2C2C2C"/>
                          </a:solidFill>
                        </a:rPr>
                        <a:t>DC component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rgbClr val="2C2C2C"/>
                          </a:solidFill>
                        </a:rPr>
                        <a:t>Mean intensity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rgbClr val="2C2C2C"/>
                          </a:solidFill>
                        </a:rPr>
                        <a:t>None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rgbClr val="CC0000"/>
                          </a:solidFill>
                        </a:rPr>
                        <a:t>Dropped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rgbClr val="2C2C2C"/>
                          </a:solidFill>
                        </a:rPr>
                        <a:t>1 – 3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rgbClr val="2C2C2C"/>
                          </a:solidFill>
                        </a:rPr>
                        <a:t>Low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rgbClr val="2C2C2C"/>
                          </a:solidFill>
                        </a:rPr>
                        <a:t>Coarse structure, identity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rgbClr val="2C2C2C"/>
                          </a:solidFill>
                        </a:rPr>
                        <a:t>Minimal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rgbClr val="2C2C2C"/>
                          </a:solidFill>
                        </a:rPr>
                        <a:t>Kept (SFDCT) / Dropped (HFF)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rgbClr val="2C2C2C"/>
                          </a:solidFill>
                        </a:rPr>
                        <a:t>4 – 15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rgbClr val="2C2C2C"/>
                          </a:solidFill>
                        </a:rPr>
                        <a:t>Mid – High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rgbClr val="2C2C2C"/>
                          </a:solidFill>
                        </a:rPr>
                        <a:t>Texture, edges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rgbClr val="2C2C2C"/>
                          </a:solidFill>
                        </a:rPr>
                        <a:t>Blending, upsampling, compression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 b="1">
                          <a:solidFill>
                            <a:srgbClr val="008800"/>
                          </a:solidFill>
                        </a:rPr>
                        <a:t>Kept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57309662" name="Shape 9"/>
          <p:cNvSpPr/>
          <p:nvPr/>
        </p:nvSpPr>
        <p:spPr bwMode="auto">
          <a:xfrm>
            <a:off x="508000" y="6807200"/>
            <a:ext cx="15240000" cy="762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  <a:ln/>
        </p:spPr>
      </p:sp>
      <p:sp>
        <p:nvSpPr>
          <p:cNvPr id="738886644" name="Text 10"/>
          <p:cNvSpPr/>
          <p:nvPr/>
        </p:nvSpPr>
        <p:spPr bwMode="auto">
          <a:xfrm>
            <a:off x="711200" y="6807200"/>
            <a:ext cx="148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Key message:</a:t>
            </a:r>
            <a:r>
              <a:rPr lang="en-US" sz="1400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 The 48-dim descriptor is fixed (zero learnable parameters), cheap to compute, stable across datasets, and interpretable — each dimension maps to a known frequency band.</a:t>
            </a:r>
            <a:endParaRPr lang="en-US" sz="1400"/>
          </a:p>
        </p:txBody>
      </p:sp>
      <p:sp>
        <p:nvSpPr>
          <p:cNvPr id="1546836882" name="Text 11"/>
          <p:cNvSpPr/>
          <p:nvPr/>
        </p:nvSpPr>
        <p:spPr bwMode="auto"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  <a:defRPr/>
            </a:pPr>
            <a:r>
              <a:rPr lang="en-US" sz="14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8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772890" name="Shape 0"/>
          <p:cNvSpPr/>
          <p:nvPr/>
        </p:nvSpPr>
        <p:spPr bwMode="auto"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774982777" name="Shape 1"/>
          <p:cNvSpPr/>
          <p:nvPr/>
        </p:nvSpPr>
        <p:spPr bwMode="auto"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472028020" name="Text 2"/>
          <p:cNvSpPr/>
          <p:nvPr/>
        </p:nvSpPr>
        <p:spPr bwMode="auto"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  <a:defRPr/>
            </a:pPr>
            <a:r>
              <a:rPr lang="en-US" sz="12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02 Methodology</a:t>
            </a:r>
            <a:endParaRPr lang="en-US" sz="1200"/>
          </a:p>
        </p:txBody>
      </p:sp>
      <p:sp>
        <p:nvSpPr>
          <p:cNvPr id="1910343729" name="Shape 4"/>
          <p:cNvSpPr/>
          <p:nvPr/>
        </p:nvSpPr>
        <p:spPr bwMode="auto">
          <a:xfrm>
            <a:off x="508000" y="863599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986779080" name="Text 3"/>
          <p:cNvSpPr/>
          <p:nvPr/>
        </p:nvSpPr>
        <p:spPr bwMode="auto"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Block-DCT Descriptor — Zigzag to 48-D</a:t>
            </a:r>
            <a:endParaRPr lang="en-US" sz="2400"/>
          </a:p>
        </p:txBody>
      </p:sp>
      <p:pic>
        <p:nvPicPr>
          <p:cNvPr id="904439854" name="Picture 1250200730" descr="fig_1_3_zigzag_detail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14400" y="1603716"/>
            <a:ext cx="14447520" cy="66680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6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451594" name="Shape 0"/>
          <p:cNvSpPr/>
          <p:nvPr/>
        </p:nvSpPr>
        <p:spPr bwMode="auto"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21245227" name="Shape 1"/>
          <p:cNvSpPr/>
          <p:nvPr/>
        </p:nvSpPr>
        <p:spPr bwMode="auto"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17465373" name="Text 2"/>
          <p:cNvSpPr/>
          <p:nvPr/>
        </p:nvSpPr>
        <p:spPr bwMode="auto"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  <a:defRPr/>
            </a:pPr>
            <a:r>
              <a:rPr lang="en-US" sz="12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02 Methodology</a:t>
            </a:r>
            <a:endParaRPr lang="en-US" sz="1200"/>
          </a:p>
        </p:txBody>
      </p:sp>
      <p:sp>
        <p:nvSpPr>
          <p:cNvPr id="1573801501" name="Text 3"/>
          <p:cNvSpPr/>
          <p:nvPr/>
        </p:nvSpPr>
        <p:spPr bwMode="auto"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Gated Cross-Attention: Space Queries Frequency</a:t>
            </a:r>
            <a:endParaRPr lang="en-US" sz="2400"/>
          </a:p>
        </p:txBody>
      </p:sp>
      <p:sp>
        <p:nvSpPr>
          <p:cNvPr id="1422654158" name="Shape 4"/>
          <p:cNvSpPr/>
          <p:nvPr/>
        </p:nvSpPr>
        <p:spPr bwMode="auto">
          <a:xfrm>
            <a:off x="508000" y="863599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52570694" name="Text 5"/>
          <p:cNvSpPr/>
          <p:nvPr/>
        </p:nvSpPr>
        <p:spPr bwMode="auto">
          <a:xfrm>
            <a:off x="508000" y="10414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6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Cross-Attention Mechanism (Eq. 2.4)</a:t>
            </a:r>
            <a:endParaRPr lang="en-US" sz="1600"/>
          </a:p>
        </p:txBody>
      </p:sp>
      <p:sp>
        <p:nvSpPr>
          <p:cNvPr id="105697825" name="Text 6"/>
          <p:cNvSpPr/>
          <p:nvPr/>
        </p:nvSpPr>
        <p:spPr bwMode="auto">
          <a:xfrm>
            <a:off x="508000" y="1422400"/>
            <a:ext cx="762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</a:t>
            </a:r>
            <a:r>
              <a:rPr lang="en-US" sz="14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Query (Q)</a:t>
            </a: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 = Spatial feature map F_s from EfficientNet-B4</a:t>
            </a:r>
            <a:endParaRPr lang="en-US" sz="1400"/>
          </a:p>
          <a:p>
            <a:pPr algn="l">
              <a:lnSpc>
                <a:spcPct val="16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</a:t>
            </a:r>
            <a:r>
              <a:rPr lang="en-US" sz="14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Key (K)</a:t>
            </a: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 = Block-DCT descriptor D</a:t>
            </a:r>
            <a:endParaRPr lang="en-US" sz="1400"/>
          </a:p>
          <a:p>
            <a:pPr algn="l">
              <a:lnSpc>
                <a:spcPct val="16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</a:t>
            </a:r>
            <a:r>
              <a:rPr lang="en-US" sz="14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Value (V)</a:t>
            </a: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 = Block-DCT descriptor D</a:t>
            </a:r>
            <a:endParaRPr lang="en-US" sz="1400"/>
          </a:p>
          <a:p>
            <a:pPr algn="l">
              <a:lnSpc>
                <a:spcPct val="16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Each spatial position retrieves a </a:t>
            </a:r>
            <a:r>
              <a:rPr lang="en-US" sz="14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weighted frequency summary</a:t>
            </a:r>
            <a:endParaRPr lang="en-US" sz="1400"/>
          </a:p>
          <a:p>
            <a:pPr algn="l">
              <a:lnSpc>
                <a:spcPct val="16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Not a flat concatenation — selective, position-aware fusion</a:t>
            </a:r>
            <a:endParaRPr lang="en-US" sz="1400"/>
          </a:p>
        </p:txBody>
      </p:sp>
      <p:sp>
        <p:nvSpPr>
          <p:cNvPr id="1001137468" name="Shape 7"/>
          <p:cNvSpPr/>
          <p:nvPr/>
        </p:nvSpPr>
        <p:spPr bwMode="auto">
          <a:xfrm>
            <a:off x="508000" y="3556000"/>
            <a:ext cx="762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57188219" name="Text 8"/>
          <p:cNvSpPr/>
          <p:nvPr/>
        </p:nvSpPr>
        <p:spPr bwMode="auto">
          <a:xfrm>
            <a:off x="508000" y="36830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6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Gated Residual (Eq. 2.5)</a:t>
            </a:r>
            <a:endParaRPr lang="en-US" sz="1600"/>
          </a:p>
        </p:txBody>
      </p:sp>
      <p:sp>
        <p:nvSpPr>
          <p:cNvPr id="560742529" name="Text 9"/>
          <p:cNvSpPr/>
          <p:nvPr/>
        </p:nvSpPr>
        <p:spPr bwMode="auto">
          <a:xfrm>
            <a:off x="508000" y="40640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8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F_fused = F_s + alpha x context</a:t>
            </a:r>
            <a:endParaRPr lang="en-US" sz="1800"/>
          </a:p>
        </p:txBody>
      </p:sp>
      <p:sp>
        <p:nvSpPr>
          <p:cNvPr id="288305042" name="Text 10"/>
          <p:cNvSpPr/>
          <p:nvPr/>
        </p:nvSpPr>
        <p:spPr bwMode="auto">
          <a:xfrm>
            <a:off x="508000" y="4597400"/>
            <a:ext cx="762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Scalar gate </a:t>
            </a:r>
            <a:r>
              <a:rPr lang="en-US" sz="14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alpha initialised to 0</a:t>
            </a:r>
            <a:endParaRPr lang="en-US" sz="1400"/>
          </a:p>
          <a:p>
            <a:pPr algn="l">
              <a:lnSpc>
                <a:spcPct val="16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At step 1: fusion = backbone exactly (floor guarantee)</a:t>
            </a:r>
            <a:endParaRPr lang="en-US" sz="1400"/>
          </a:p>
          <a:p>
            <a:pPr algn="l">
              <a:lnSpc>
                <a:spcPct val="16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Gate opens </a:t>
            </a:r>
            <a:r>
              <a:rPr lang="en-US" sz="14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only where</a:t>
            </a: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 frequency context lowers loss</a:t>
            </a:r>
            <a:endParaRPr lang="en-US" sz="1400"/>
          </a:p>
          <a:p>
            <a:pPr algn="l">
              <a:lnSpc>
                <a:spcPct val="16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If frequency is noisy: gradient pulls alpha back to ~0</a:t>
            </a:r>
            <a:endParaRPr lang="en-US" sz="1400"/>
          </a:p>
        </p:txBody>
      </p:sp>
      <p:sp>
        <p:nvSpPr>
          <p:cNvPr id="577795470" name="Text 11"/>
          <p:cNvSpPr/>
          <p:nvPr/>
        </p:nvSpPr>
        <p:spPr bwMode="auto">
          <a:xfrm>
            <a:off x="8636000" y="1041400"/>
            <a:ext cx="711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6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Learned Gate Statistics (after training)</a:t>
            </a:r>
            <a:endParaRPr lang="en-US" sz="1600"/>
          </a:p>
        </p:txBody>
      </p:sp>
      <p:sp>
        <p:nvSpPr>
          <p:cNvPr id="852794695" name="Shape 12"/>
          <p:cNvSpPr/>
          <p:nvPr/>
        </p:nvSpPr>
        <p:spPr bwMode="auto">
          <a:xfrm>
            <a:off x="8636000" y="1422400"/>
            <a:ext cx="711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84653555" name="Shape 13"/>
          <p:cNvSpPr/>
          <p:nvPr/>
        </p:nvSpPr>
        <p:spPr bwMode="auto">
          <a:xfrm>
            <a:off x="8636000" y="1574800"/>
            <a:ext cx="2159000" cy="1016000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</p:sp>
      <p:sp>
        <p:nvSpPr>
          <p:cNvPr id="24585715" name="Text 14"/>
          <p:cNvSpPr/>
          <p:nvPr/>
        </p:nvSpPr>
        <p:spPr bwMode="auto">
          <a:xfrm>
            <a:off x="8636000" y="1625600"/>
            <a:ext cx="215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2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1792</a:t>
            </a:r>
            <a:endParaRPr lang="en-US" sz="2400"/>
          </a:p>
        </p:txBody>
      </p:sp>
      <p:sp>
        <p:nvSpPr>
          <p:cNvPr id="2122586708" name="Text 15"/>
          <p:cNvSpPr/>
          <p:nvPr/>
        </p:nvSpPr>
        <p:spPr bwMode="auto">
          <a:xfrm>
            <a:off x="8636000" y="2159000"/>
            <a:ext cx="215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channels</a:t>
            </a:r>
            <a:endParaRPr lang="en-US" sz="1200"/>
          </a:p>
        </p:txBody>
      </p:sp>
      <p:sp>
        <p:nvSpPr>
          <p:cNvPr id="1422968758" name="Shape 16"/>
          <p:cNvSpPr/>
          <p:nvPr/>
        </p:nvSpPr>
        <p:spPr bwMode="auto">
          <a:xfrm>
            <a:off x="10998200" y="1574800"/>
            <a:ext cx="2159000" cy="1016000"/>
          </a:xfrm>
          <a:prstGeom prst="roundRect">
            <a:avLst>
              <a:gd name="adj" fmla="val 4000"/>
            </a:avLst>
          </a:prstGeom>
          <a:solidFill>
            <a:srgbClr val="5B9BD5"/>
          </a:solidFill>
          <a:ln/>
        </p:spPr>
      </p:sp>
      <p:sp>
        <p:nvSpPr>
          <p:cNvPr id="721277362" name="Text 17"/>
          <p:cNvSpPr/>
          <p:nvPr/>
        </p:nvSpPr>
        <p:spPr bwMode="auto">
          <a:xfrm>
            <a:off x="10998200" y="1625600"/>
            <a:ext cx="215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2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+0.0000</a:t>
            </a:r>
            <a:endParaRPr lang="en-US" sz="2400"/>
          </a:p>
        </p:txBody>
      </p:sp>
      <p:sp>
        <p:nvSpPr>
          <p:cNvPr id="1212704715" name="Text 18"/>
          <p:cNvSpPr/>
          <p:nvPr/>
        </p:nvSpPr>
        <p:spPr bwMode="auto">
          <a:xfrm>
            <a:off x="10998200" y="2159000"/>
            <a:ext cx="215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mean alpha</a:t>
            </a:r>
            <a:endParaRPr lang="en-US" sz="1200"/>
          </a:p>
        </p:txBody>
      </p:sp>
      <p:sp>
        <p:nvSpPr>
          <p:cNvPr id="866390010" name="Shape 19"/>
          <p:cNvSpPr/>
          <p:nvPr/>
        </p:nvSpPr>
        <p:spPr bwMode="auto">
          <a:xfrm>
            <a:off x="13360400" y="1574800"/>
            <a:ext cx="2387600" cy="1016000"/>
          </a:xfrm>
          <a:prstGeom prst="roundRect">
            <a:avLst>
              <a:gd name="adj" fmla="val 4000"/>
            </a:avLst>
          </a:prstGeom>
          <a:solidFill>
            <a:srgbClr val="2E86C1"/>
          </a:solidFill>
          <a:ln/>
        </p:spPr>
      </p:sp>
      <p:sp>
        <p:nvSpPr>
          <p:cNvPr id="2087736225" name="Text 20"/>
          <p:cNvSpPr/>
          <p:nvPr/>
        </p:nvSpPr>
        <p:spPr bwMode="auto">
          <a:xfrm>
            <a:off x="13360400" y="1625600"/>
            <a:ext cx="23876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2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0.0232</a:t>
            </a:r>
            <a:endParaRPr lang="en-US" sz="2400"/>
          </a:p>
        </p:txBody>
      </p:sp>
      <p:sp>
        <p:nvSpPr>
          <p:cNvPr id="162691721" name="Text 21"/>
          <p:cNvSpPr/>
          <p:nvPr/>
        </p:nvSpPr>
        <p:spPr bwMode="auto">
          <a:xfrm>
            <a:off x="13360400" y="2159000"/>
            <a:ext cx="2387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max |alpha|</a:t>
            </a:r>
            <a:endParaRPr lang="en-US" sz="1200"/>
          </a:p>
        </p:txBody>
      </p:sp>
      <p:sp>
        <p:nvSpPr>
          <p:cNvPr id="1811279580" name="Text 22"/>
          <p:cNvSpPr/>
          <p:nvPr/>
        </p:nvSpPr>
        <p:spPr bwMode="auto">
          <a:xfrm>
            <a:off x="8636000" y="2768600"/>
            <a:ext cx="711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std = </a:t>
            </a:r>
            <a:r>
              <a:rPr lang="en-US" sz="14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0.0013</a:t>
            </a: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 — most channels stay near zero</a:t>
            </a:r>
            <a:endParaRPr lang="en-US" sz="1400"/>
          </a:p>
          <a:p>
            <a:pPr algn="l">
              <a:lnSpc>
                <a:spcPct val="16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Only a </a:t>
            </a:r>
            <a:r>
              <a:rPr lang="en-US" sz="14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small fraction</a:t>
            </a: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 of channels open selectively</a:t>
            </a:r>
            <a:endParaRPr lang="en-US" sz="1400"/>
          </a:p>
          <a:p>
            <a:pPr algn="l">
              <a:lnSpc>
                <a:spcPct val="16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The gate acts as a </a:t>
            </a:r>
            <a:r>
              <a:rPr lang="en-US" sz="14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direct meter</a:t>
            </a: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 of frequency contribution</a:t>
            </a:r>
            <a:endParaRPr lang="en-US" sz="1400"/>
          </a:p>
          <a:p>
            <a:pPr algn="l">
              <a:lnSpc>
                <a:spcPct val="16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Consistent with measured gain being small</a:t>
            </a:r>
            <a:endParaRPr lang="en-US" sz="1400"/>
          </a:p>
        </p:txBody>
      </p:sp>
      <p:sp>
        <p:nvSpPr>
          <p:cNvPr id="426262038" name="Shape 23"/>
          <p:cNvSpPr/>
          <p:nvPr/>
        </p:nvSpPr>
        <p:spPr bwMode="auto">
          <a:xfrm>
            <a:off x="508000" y="6350000"/>
            <a:ext cx="15240000" cy="889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  <a:ln/>
        </p:spPr>
      </p:sp>
      <p:sp>
        <p:nvSpPr>
          <p:cNvPr id="954944390" name="Text 24"/>
          <p:cNvSpPr/>
          <p:nvPr/>
        </p:nvSpPr>
        <p:spPr bwMode="auto">
          <a:xfrm>
            <a:off x="711200" y="6350000"/>
            <a:ext cx="14833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Key message:</a:t>
            </a:r>
            <a:r>
              <a:rPr lang="en-US" sz="1400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 The zero-initialised gate is both a safe-fusion design (model starts = backbone) and a direct meter of frequency contribution. The meter reads: gain is small, selective, and honest — max |alpha| = 0.0232 across 1792 channels.</a:t>
            </a:r>
            <a:endParaRPr lang="en-US" sz="1400"/>
          </a:p>
        </p:txBody>
      </p:sp>
      <p:sp>
        <p:nvSpPr>
          <p:cNvPr id="2122658701" name="Text 25"/>
          <p:cNvSpPr/>
          <p:nvPr/>
        </p:nvSpPr>
        <p:spPr bwMode="auto"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  <a:defRPr/>
            </a:pPr>
            <a:r>
              <a:rPr lang="en-US" sz="14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9</a:t>
            </a:r>
            <a:endParaRPr lang="en-US" sz="1400"/>
          </a:p>
        </p:txBody>
      </p:sp>
      <p:pic>
        <p:nvPicPr>
          <p:cNvPr id="1848539602" name="Picture 2004682757" descr="fig_3_13_gate_alpha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19003" y="4434840"/>
            <a:ext cx="4976473" cy="18928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6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7700905" name="Shape 0"/>
          <p:cNvSpPr/>
          <p:nvPr/>
        </p:nvSpPr>
        <p:spPr bwMode="auto"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85971589" name="Shape 1"/>
          <p:cNvSpPr/>
          <p:nvPr/>
        </p:nvSpPr>
        <p:spPr bwMode="auto"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818944305" name="Text 2"/>
          <p:cNvSpPr/>
          <p:nvPr/>
        </p:nvSpPr>
        <p:spPr bwMode="auto"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  <a:defRPr/>
            </a:pPr>
            <a:r>
              <a:rPr lang="en-US" sz="12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02 Methodology</a:t>
            </a:r>
            <a:endParaRPr lang="en-US" sz="1200"/>
          </a:p>
        </p:txBody>
      </p:sp>
      <p:sp>
        <p:nvSpPr>
          <p:cNvPr id="1296773000" name="Text 3"/>
          <p:cNvSpPr/>
          <p:nvPr/>
        </p:nvSpPr>
        <p:spPr bwMode="auto"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SFDCT-HFF Variant and Liveness Reuse</a:t>
            </a:r>
            <a:endParaRPr lang="en-US" sz="2400"/>
          </a:p>
        </p:txBody>
      </p:sp>
      <p:sp>
        <p:nvSpPr>
          <p:cNvPr id="1444015977" name="Shape 4"/>
          <p:cNvSpPr/>
          <p:nvPr/>
        </p:nvSpPr>
        <p:spPr bwMode="auto">
          <a:xfrm>
            <a:off x="508000" y="863599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98423691" name="Shape 5"/>
          <p:cNvSpPr/>
          <p:nvPr/>
        </p:nvSpPr>
        <p:spPr bwMode="auto">
          <a:xfrm>
            <a:off x="508000" y="1041400"/>
            <a:ext cx="7302500" cy="508000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</p:sp>
      <p:sp>
        <p:nvSpPr>
          <p:cNvPr id="781245187" name="Text 6"/>
          <p:cNvSpPr/>
          <p:nvPr/>
        </p:nvSpPr>
        <p:spPr bwMode="auto">
          <a:xfrm>
            <a:off x="508000" y="1041400"/>
            <a:ext cx="7302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SFDCT (Baseline Variant)</a:t>
            </a:r>
            <a:endParaRPr lang="en-US" sz="1600"/>
          </a:p>
        </p:txBody>
      </p:sp>
      <p:sp>
        <p:nvSpPr>
          <p:cNvPr id="260591069" name="Shape 7"/>
          <p:cNvSpPr/>
          <p:nvPr/>
        </p:nvSpPr>
        <p:spPr bwMode="auto">
          <a:xfrm>
            <a:off x="508000" y="1549400"/>
            <a:ext cx="7302500" cy="2921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202568420" name="Text 8"/>
          <p:cNvSpPr/>
          <p:nvPr/>
        </p:nvSpPr>
        <p:spPr bwMode="auto">
          <a:xfrm>
            <a:off x="711200" y="1701800"/>
            <a:ext cx="6896100" cy="261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Frequency representation: </a:t>
            </a:r>
            <a:r>
              <a:rPr lang="en-US" sz="14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band statistics</a:t>
            </a:r>
            <a:endParaRPr lang="en-US" sz="1400"/>
          </a:p>
          <a:p>
            <a:pPr algn="l">
              <a:lnSpc>
                <a:spcPct val="16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Keep all 16 bands (after dropping DC)</a:t>
            </a:r>
            <a:endParaRPr lang="en-US" sz="1400"/>
          </a:p>
          <a:p>
            <a:pPr algn="l">
              <a:lnSpc>
                <a:spcPct val="16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48-dim descriptor per block</a:t>
            </a:r>
            <a:endParaRPr lang="en-US" sz="1400"/>
          </a:p>
          <a:p>
            <a:pPr algn="l">
              <a:lnSpc>
                <a:spcPct val="16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Direct statistical input to fusion gate</a:t>
            </a:r>
            <a:endParaRPr lang="en-US" sz="1400"/>
          </a:p>
          <a:p>
            <a:pPr algn="l">
              <a:lnSpc>
                <a:spcPct val="160000"/>
              </a:lnSpc>
              <a:spcBef>
                <a:spcPts val="800"/>
              </a:spcBef>
              <a:defRPr/>
            </a:pPr>
            <a:r>
              <a:rPr lang="en-US" sz="14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Result: AUC = 0.7572</a:t>
            </a:r>
            <a:endParaRPr lang="en-US" sz="1400"/>
          </a:p>
        </p:txBody>
      </p:sp>
      <p:sp>
        <p:nvSpPr>
          <p:cNvPr id="200463972" name="Shape 9"/>
          <p:cNvSpPr/>
          <p:nvPr/>
        </p:nvSpPr>
        <p:spPr bwMode="auto">
          <a:xfrm>
            <a:off x="8445500" y="1041400"/>
            <a:ext cx="7302500" cy="508000"/>
          </a:xfrm>
          <a:prstGeom prst="roundRect">
            <a:avLst>
              <a:gd name="adj" fmla="val 4000"/>
            </a:avLst>
          </a:prstGeom>
          <a:solidFill>
            <a:srgbClr val="2E86C1"/>
          </a:solidFill>
          <a:ln/>
        </p:spPr>
      </p:sp>
      <p:sp>
        <p:nvSpPr>
          <p:cNvPr id="2120024797" name="Text 10"/>
          <p:cNvSpPr/>
          <p:nvPr/>
        </p:nvSpPr>
        <p:spPr bwMode="auto">
          <a:xfrm>
            <a:off x="8445500" y="1041400"/>
            <a:ext cx="7302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SFDCT-HFF (High-Frequency Filtered)</a:t>
            </a:r>
            <a:endParaRPr lang="en-US" sz="1600"/>
          </a:p>
        </p:txBody>
      </p:sp>
      <p:sp>
        <p:nvSpPr>
          <p:cNvPr id="1710971728" name="Shape 11"/>
          <p:cNvSpPr/>
          <p:nvPr/>
        </p:nvSpPr>
        <p:spPr bwMode="auto">
          <a:xfrm>
            <a:off x="8445500" y="1549400"/>
            <a:ext cx="7302500" cy="2921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1581457726" name="Text 12"/>
          <p:cNvSpPr/>
          <p:nvPr/>
        </p:nvSpPr>
        <p:spPr bwMode="auto">
          <a:xfrm>
            <a:off x="8648700" y="1701800"/>
            <a:ext cx="6896100" cy="261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Frequency representation: </a:t>
            </a:r>
            <a:r>
              <a:rPr lang="en-US" sz="14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high-pass residual image</a:t>
            </a:r>
            <a:endParaRPr lang="en-US" sz="1400"/>
          </a:p>
          <a:p>
            <a:pPr algn="l">
              <a:lnSpc>
                <a:spcPct val="16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Zero lowest DCT bands, inverse DCT</a:t>
            </a:r>
            <a:endParaRPr lang="en-US" sz="1400"/>
          </a:p>
          <a:p>
            <a:pPr algn="l">
              <a:lnSpc>
                <a:spcPct val="16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Multi-scale Conv-BN-ReLU reads residual</a:t>
            </a:r>
            <a:endParaRPr lang="en-US" sz="1400"/>
          </a:p>
          <a:p>
            <a:pPr algn="l">
              <a:lnSpc>
                <a:spcPct val="16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Residual-guided attention steers spatial branch</a:t>
            </a:r>
            <a:endParaRPr lang="en-US" sz="1400"/>
          </a:p>
          <a:p>
            <a:pPr algn="l">
              <a:lnSpc>
                <a:spcPct val="160000"/>
              </a:lnSpc>
              <a:spcBef>
                <a:spcPts val="800"/>
              </a:spcBef>
              <a:defRPr/>
            </a:pPr>
            <a:r>
              <a:rPr lang="en-US" sz="1400" b="1">
                <a:solidFill>
                  <a:srgbClr val="2E86C1"/>
                </a:solidFill>
                <a:latin typeface="Quattrocento Sans"/>
                <a:ea typeface="Quattrocento Sans"/>
                <a:cs typeface="Quattrocento Sans"/>
              </a:rPr>
              <a:t>Result: AUC = 0.7695</a:t>
            </a:r>
            <a:endParaRPr lang="en-US" sz="1400"/>
          </a:p>
        </p:txBody>
      </p:sp>
      <p:sp>
        <p:nvSpPr>
          <p:cNvPr id="1885755637" name="Shape 13"/>
          <p:cNvSpPr/>
          <p:nvPr/>
        </p:nvSpPr>
        <p:spPr bwMode="auto">
          <a:xfrm>
            <a:off x="508000" y="4673600"/>
            <a:ext cx="15240000" cy="355600"/>
          </a:xfrm>
          <a:prstGeom prst="roundRect">
            <a:avLst>
              <a:gd name="adj" fmla="val 4000"/>
            </a:avLst>
          </a:prstGeom>
          <a:solidFill>
            <a:srgbClr val="E3F0FA"/>
          </a:solidFill>
          <a:ln/>
        </p:spPr>
      </p:sp>
      <p:sp>
        <p:nvSpPr>
          <p:cNvPr id="1337115191" name="Text 14"/>
          <p:cNvSpPr/>
          <p:nvPr/>
        </p:nvSpPr>
        <p:spPr bwMode="auto">
          <a:xfrm>
            <a:off x="711200" y="4673600"/>
            <a:ext cx="1483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  <a:defRPr/>
            </a:pPr>
            <a:r>
              <a:rPr lang="en-US" sz="13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Controlled comparison:</a:t>
            </a:r>
            <a:r>
              <a:rPr lang="en-US" sz="1300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 Same B4 backbone, same zero-init gate, same loss. Only the frequency carrier changes — any gap is attributable to representation choice.</a:t>
            </a:r>
            <a:endParaRPr lang="en-US" sz="1300"/>
          </a:p>
        </p:txBody>
      </p:sp>
      <p:sp>
        <p:nvSpPr>
          <p:cNvPr id="2054407091" name="Text 15"/>
          <p:cNvSpPr/>
          <p:nvPr/>
        </p:nvSpPr>
        <p:spPr bwMode="auto">
          <a:xfrm>
            <a:off x="508000" y="53848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6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Liveness Module (Secondary)</a:t>
            </a:r>
            <a:endParaRPr lang="en-US" sz="1600"/>
          </a:p>
        </p:txBody>
      </p:sp>
      <p:sp>
        <p:nvSpPr>
          <p:cNvPr id="1170459686" name="Shape 16"/>
          <p:cNvSpPr/>
          <p:nvPr/>
        </p:nvSpPr>
        <p:spPr bwMode="auto">
          <a:xfrm>
            <a:off x="508000" y="5765799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908830526" name="Text 17"/>
          <p:cNvSpPr/>
          <p:nvPr/>
        </p:nvSpPr>
        <p:spPr bwMode="auto">
          <a:xfrm>
            <a:off x="508000" y="5892800"/>
            <a:ext cx="1524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</a:t>
            </a:r>
            <a:r>
              <a:rPr lang="en-US" sz="14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Reuses the same design</a:t>
            </a: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: B4 baseline vs. B4 + block-DCT, no new frequency design</a:t>
            </a:r>
            <a:endParaRPr lang="en-US" sz="1400"/>
          </a:p>
          <a:p>
            <a:pPr algn="l">
              <a:lnSpc>
                <a:spcPct val="16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</a:t>
            </a:r>
            <a:r>
              <a:rPr lang="en-US" sz="14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Physical basis</a:t>
            </a: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: Screen replay leaves re-capture peaks; print leaves dot patterns — both visible in frequency domain</a:t>
            </a:r>
            <a:endParaRPr lang="en-US" sz="1400"/>
          </a:p>
          <a:p>
            <a:pPr algn="l">
              <a:lnSpc>
                <a:spcPct val="16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</a:t>
            </a:r>
            <a:r>
              <a:rPr lang="en-US" sz="14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Cascade role</a:t>
            </a: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: Liveness runs first as a pre-filter; a spoof or uncertain verdict stops the request before deepfake computation</a:t>
            </a:r>
            <a:endParaRPr lang="en-US" sz="1400"/>
          </a:p>
        </p:txBody>
      </p:sp>
      <p:sp>
        <p:nvSpPr>
          <p:cNvPr id="662064669" name="Shape 18"/>
          <p:cNvSpPr/>
          <p:nvPr/>
        </p:nvSpPr>
        <p:spPr bwMode="auto">
          <a:xfrm>
            <a:off x="508000" y="7315200"/>
            <a:ext cx="15240000" cy="635000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</p:sp>
      <p:sp>
        <p:nvSpPr>
          <p:cNvPr id="1904535079" name="Text 19"/>
          <p:cNvSpPr/>
          <p:nvPr/>
        </p:nvSpPr>
        <p:spPr bwMode="auto">
          <a:xfrm>
            <a:off x="711200" y="7315200"/>
            <a:ext cx="14833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Key message:</a:t>
            </a:r>
            <a:r>
              <a:rPr lang="en-US" sz="1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 SFDCT-HFF changes only the frequency carrier (residual image vs. band stats), making it a controlled experiment. The same design is reused for liveness as a pre-filter cascade.</a:t>
            </a:r>
            <a:endParaRPr lang="en-US" sz="1400"/>
          </a:p>
        </p:txBody>
      </p:sp>
      <p:sp>
        <p:nvSpPr>
          <p:cNvPr id="2127219090" name="Text 20"/>
          <p:cNvSpPr/>
          <p:nvPr/>
        </p:nvSpPr>
        <p:spPr bwMode="auto"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  <a:defRPr/>
            </a:pPr>
            <a:r>
              <a:rPr lang="en-US" sz="14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10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371657" name="Shape 0"/>
          <p:cNvSpPr/>
          <p:nvPr/>
        </p:nvSpPr>
        <p:spPr bwMode="auto"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941862563" name="Shape 1"/>
          <p:cNvSpPr/>
          <p:nvPr/>
        </p:nvSpPr>
        <p:spPr bwMode="auto"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26477941" name="Text 2"/>
          <p:cNvSpPr/>
          <p:nvPr/>
        </p:nvSpPr>
        <p:spPr bwMode="auto"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  <a:defRPr/>
            </a:pPr>
            <a:r>
              <a:rPr lang="en-US" sz="12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02 Methodology</a:t>
            </a:r>
            <a:endParaRPr lang="en-US" sz="1200"/>
          </a:p>
        </p:txBody>
      </p:sp>
      <p:sp>
        <p:nvSpPr>
          <p:cNvPr id="830043744" name="Shape 4"/>
          <p:cNvSpPr/>
          <p:nvPr/>
        </p:nvSpPr>
        <p:spPr bwMode="auto">
          <a:xfrm>
            <a:off x="508000" y="863599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1545236712" name="Text 3"/>
          <p:cNvSpPr/>
          <p:nvPr/>
        </p:nvSpPr>
        <p:spPr bwMode="auto"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SFDCT-HFF &amp; Liveness Reuse</a:t>
            </a:r>
            <a:endParaRPr lang="en-US" sz="2400"/>
          </a:p>
        </p:txBody>
      </p:sp>
      <p:pic>
        <p:nvPicPr>
          <p:cNvPr id="490341268" name="Picture 1250200730" descr="fig_sfdct_hff_architect_final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286440" y="1280160"/>
            <a:ext cx="7703438" cy="3474720"/>
          </a:xfrm>
          <a:prstGeom prst="rect">
            <a:avLst/>
          </a:prstGeom>
        </p:spPr>
      </p:pic>
      <p:pic>
        <p:nvPicPr>
          <p:cNvPr id="738965305" name="Picture 1250200731" descr="fig_2_b4dct_liveness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40080" y="5240020"/>
            <a:ext cx="7315199" cy="3007359"/>
          </a:xfrm>
          <a:prstGeom prst="rect">
            <a:avLst/>
          </a:prstGeom>
        </p:spPr>
      </p:pic>
      <p:pic>
        <p:nvPicPr>
          <p:cNvPr id="1066008546" name="Picture 1250200732" descr="fig_hff_residual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473968" y="4983480"/>
            <a:ext cx="5009342" cy="3520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009801" name="Shape 0"/>
          <p:cNvSpPr/>
          <p:nvPr/>
        </p:nvSpPr>
        <p:spPr bwMode="auto"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620936025" name="Shape 1"/>
          <p:cNvSpPr/>
          <p:nvPr/>
        </p:nvSpPr>
        <p:spPr bwMode="auto"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77819291" name="Text 2"/>
          <p:cNvSpPr/>
          <p:nvPr/>
        </p:nvSpPr>
        <p:spPr bwMode="auto"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  <a:defRPr/>
            </a:pPr>
            <a:r>
              <a:rPr lang="en-US" sz="12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02 Methodology</a:t>
            </a:r>
            <a:endParaRPr lang="en-US" sz="1200"/>
          </a:p>
        </p:txBody>
      </p:sp>
      <p:sp>
        <p:nvSpPr>
          <p:cNvPr id="471928715" name="Shape 4"/>
          <p:cNvSpPr/>
          <p:nvPr/>
        </p:nvSpPr>
        <p:spPr bwMode="auto">
          <a:xfrm>
            <a:off x="508000" y="863599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921408277" name="Text 3"/>
          <p:cNvSpPr/>
          <p:nvPr/>
        </p:nvSpPr>
        <p:spPr bwMode="auto"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Liveness Detection (Secondary Module)</a:t>
            </a:r>
            <a:endParaRPr lang="en-US" sz="2400"/>
          </a:p>
        </p:txBody>
      </p:sp>
      <p:pic>
        <p:nvPicPr>
          <p:cNvPr id="1500008617" name="Picture 1250200730" descr="fig_3_17_liveness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71712" y="1280160"/>
            <a:ext cx="5732895" cy="3794760"/>
          </a:xfrm>
          <a:prstGeom prst="rect">
            <a:avLst/>
          </a:prstGeom>
        </p:spPr>
      </p:pic>
      <p:pic>
        <p:nvPicPr>
          <p:cNvPr id="1140853516" name="Picture 1250200731" descr="fig_3_20_roc_b4_liveness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070279" y="5166360"/>
            <a:ext cx="8135760" cy="3383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F6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523438" name="Shape 0"/>
          <p:cNvSpPr/>
          <p:nvPr/>
        </p:nvSpPr>
        <p:spPr bwMode="auto"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838638371" name="Shape 1"/>
          <p:cNvSpPr/>
          <p:nvPr/>
        </p:nvSpPr>
        <p:spPr bwMode="auto">
          <a:xfrm>
            <a:off x="6096000" y="1778000"/>
            <a:ext cx="12700" cy="55880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21675369" name="Text 2"/>
          <p:cNvSpPr/>
          <p:nvPr/>
        </p:nvSpPr>
        <p:spPr bwMode="auto">
          <a:xfrm>
            <a:off x="762000" y="2540000"/>
            <a:ext cx="4826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20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03</a:t>
            </a:r>
            <a:endParaRPr lang="en-US" sz="12000"/>
          </a:p>
        </p:txBody>
      </p:sp>
      <p:sp>
        <p:nvSpPr>
          <p:cNvPr id="2136371588" name="Text 3"/>
          <p:cNvSpPr/>
          <p:nvPr/>
        </p:nvSpPr>
        <p:spPr bwMode="auto">
          <a:xfrm>
            <a:off x="762000" y="5080000"/>
            <a:ext cx="482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600" spc="4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CHAPTER THREE</a:t>
            </a:r>
            <a:endParaRPr lang="en-US" sz="1600"/>
          </a:p>
        </p:txBody>
      </p:sp>
      <p:sp>
        <p:nvSpPr>
          <p:cNvPr id="713752305" name="Text 4"/>
          <p:cNvSpPr/>
          <p:nvPr/>
        </p:nvSpPr>
        <p:spPr bwMode="auto">
          <a:xfrm>
            <a:off x="6604000" y="2997200"/>
            <a:ext cx="8890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  <a:defRPr/>
            </a:pPr>
            <a:r>
              <a:rPr lang="en-US" sz="36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Results</a:t>
            </a:r>
            <a:endParaRPr lang="en-US" sz="3600"/>
          </a:p>
        </p:txBody>
      </p:sp>
      <p:sp>
        <p:nvSpPr>
          <p:cNvPr id="132497607" name="Text 5"/>
          <p:cNvSpPr/>
          <p:nvPr/>
        </p:nvSpPr>
        <p:spPr bwMode="auto">
          <a:xfrm>
            <a:off x="6604000" y="38354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800">
                <a:solidFill>
                  <a:srgbClr val="AAAAAA"/>
                </a:solidFill>
                <a:latin typeface="Quattrocento Sans"/>
                <a:ea typeface="Quattrocento Sans"/>
                <a:cs typeface="Quattrocento Sans"/>
              </a:rPr>
              <a:t>Cross-Dataset Protocol and Honest Reading</a:t>
            </a:r>
            <a:endParaRPr lang="en-US" sz="1800"/>
          </a:p>
        </p:txBody>
      </p:sp>
      <p:sp>
        <p:nvSpPr>
          <p:cNvPr id="2012423486" name="Shape 6"/>
          <p:cNvSpPr/>
          <p:nvPr/>
        </p:nvSpPr>
        <p:spPr bwMode="auto">
          <a:xfrm>
            <a:off x="6604000" y="4572000"/>
            <a:ext cx="4064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81836689" name="Text 7"/>
          <p:cNvSpPr/>
          <p:nvPr/>
        </p:nvSpPr>
        <p:spPr bwMode="auto">
          <a:xfrm>
            <a:off x="6604000" y="48260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6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3.1  Cross-Dataset Protocol</a:t>
            </a:r>
            <a:endParaRPr lang="en-US" sz="1600"/>
          </a:p>
        </p:txBody>
      </p:sp>
      <p:sp>
        <p:nvSpPr>
          <p:cNvPr id="997806629" name="Text 8"/>
          <p:cNvSpPr/>
          <p:nvPr/>
        </p:nvSpPr>
        <p:spPr bwMode="auto">
          <a:xfrm>
            <a:off x="6604000" y="52832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6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3.2  Cross-Dataset Results and Honest Reading</a:t>
            </a:r>
            <a:endParaRPr lang="en-US" sz="1600"/>
          </a:p>
        </p:txBody>
      </p:sp>
      <p:sp>
        <p:nvSpPr>
          <p:cNvPr id="767000955" name="Text 9"/>
          <p:cNvSpPr/>
          <p:nvPr/>
        </p:nvSpPr>
        <p:spPr bwMode="auto"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  <a:defRPr/>
            </a:pPr>
            <a:r>
              <a:rPr lang="en-US" sz="14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11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F6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447055" name="Shape 0"/>
          <p:cNvSpPr/>
          <p:nvPr/>
        </p:nvSpPr>
        <p:spPr bwMode="auto"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164805980" name="Shape 1"/>
          <p:cNvSpPr/>
          <p:nvPr/>
        </p:nvSpPr>
        <p:spPr bwMode="auto"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069028779" name="Text 2"/>
          <p:cNvSpPr/>
          <p:nvPr/>
        </p:nvSpPr>
        <p:spPr bwMode="auto"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  <a:defRPr/>
            </a:pPr>
            <a:r>
              <a:rPr lang="en-US" sz="12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03 Results</a:t>
            </a:r>
            <a:endParaRPr lang="en-US" sz="1200"/>
          </a:p>
        </p:txBody>
      </p:sp>
      <p:sp>
        <p:nvSpPr>
          <p:cNvPr id="414676193" name="Text 3"/>
          <p:cNvSpPr/>
          <p:nvPr/>
        </p:nvSpPr>
        <p:spPr bwMode="auto"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Cross-Dataset Protocol: The Real Test</a:t>
            </a:r>
            <a:endParaRPr lang="en-US" sz="2400"/>
          </a:p>
        </p:txBody>
      </p:sp>
      <p:sp>
        <p:nvSpPr>
          <p:cNvPr id="1118331807" name="Shape 4"/>
          <p:cNvSpPr/>
          <p:nvPr/>
        </p:nvSpPr>
        <p:spPr bwMode="auto">
          <a:xfrm>
            <a:off x="508000" y="863599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graphicFrame>
        <p:nvGraphicFramePr>
          <p:cNvPr id="586720095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508000" y="1041400"/>
          <a:ext cx="8636000" cy="22860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590800"/>
                <a:gridCol w="3022600"/>
                <a:gridCol w="3022600"/>
              </a:tblGrid>
              <a:tr h="5715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Training: FF++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Testing: Celeb-DF-v2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1A4A7A"/>
                    </a:solidFill>
                  </a:tcPr>
                </a:tc>
              </a:tr>
              <a:tr h="5715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rgbClr val="2C2C2C"/>
                          </a:solidFill>
                        </a:rPr>
                        <a:t>Real videos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rgbClr val="2C2C2C"/>
                          </a:solidFill>
                        </a:rPr>
                        <a:t>1,000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rgbClr val="2C2C2C"/>
                          </a:solidFill>
                        </a:rPr>
                        <a:t>590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rgbClr val="2C2C2C"/>
                          </a:solidFill>
                        </a:rPr>
                        <a:t>Fake videos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rgbClr val="2C2C2C"/>
                          </a:solidFill>
                        </a:rPr>
                        <a:t>4 methods (from 1K real)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rgbClr val="2C2C2C"/>
                          </a:solidFill>
                        </a:rPr>
                        <a:t>5,639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rgbClr val="2C2C2C"/>
                          </a:solidFill>
                        </a:rPr>
                        <a:t>Frames/video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rgbClr val="2C2C2C"/>
                          </a:solidFill>
                        </a:rPr>
                        <a:t>32 (evenly sampled)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rgbClr val="2C2C2C"/>
                          </a:solidFill>
                        </a:rPr>
                        <a:t>32 (evenly sampled)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68213151" name="Text 5"/>
          <p:cNvSpPr/>
          <p:nvPr/>
        </p:nvSpPr>
        <p:spPr bwMode="auto">
          <a:xfrm>
            <a:off x="9652000" y="1041400"/>
            <a:ext cx="609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6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Protocol Design</a:t>
            </a:r>
            <a:endParaRPr lang="en-US" sz="1600"/>
          </a:p>
        </p:txBody>
      </p:sp>
      <p:sp>
        <p:nvSpPr>
          <p:cNvPr id="929161534" name="Shape 6"/>
          <p:cNvSpPr/>
          <p:nvPr/>
        </p:nvSpPr>
        <p:spPr bwMode="auto">
          <a:xfrm>
            <a:off x="9652000" y="1422400"/>
            <a:ext cx="6096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988087445" name="Text 7"/>
          <p:cNvSpPr/>
          <p:nvPr/>
        </p:nvSpPr>
        <p:spPr bwMode="auto">
          <a:xfrm>
            <a:off x="9652000" y="1524000"/>
            <a:ext cx="609600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</a:t>
            </a:r>
            <a:r>
              <a:rPr lang="en-US" sz="14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Train only on FF++</a:t>
            </a: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, test only on Celeb-DF-v2</a:t>
            </a:r>
            <a:endParaRPr lang="en-US" sz="1400"/>
          </a:p>
          <a:p>
            <a:pPr algn="l">
              <a:lnSpc>
                <a:spcPct val="16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Test set </a:t>
            </a:r>
            <a:r>
              <a:rPr lang="en-US" sz="14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never seen</a:t>
            </a: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 during training</a:t>
            </a:r>
            <a:endParaRPr lang="en-US" sz="1400"/>
          </a:p>
          <a:p>
            <a:pPr algn="l">
              <a:lnSpc>
                <a:spcPct val="16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32 frames/video, </a:t>
            </a:r>
            <a:r>
              <a:rPr lang="en-US" sz="14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fixed</a:t>
            </a: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 for all configs</a:t>
            </a:r>
            <a:endParaRPr lang="en-US" sz="1400"/>
          </a:p>
          <a:p>
            <a:pPr algn="l">
              <a:lnSpc>
                <a:spcPct val="16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Metric: </a:t>
            </a:r>
            <a:r>
              <a:rPr lang="en-US" sz="14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frame-level AUC</a:t>
            </a: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 (threshold-free)</a:t>
            </a:r>
            <a:endParaRPr lang="en-US" sz="1400"/>
          </a:p>
          <a:p>
            <a:pPr algn="l">
              <a:lnSpc>
                <a:spcPct val="16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Both datasets skew fake (~1:4 real:fake)</a:t>
            </a:r>
            <a:endParaRPr lang="en-US" sz="1400"/>
          </a:p>
        </p:txBody>
      </p:sp>
      <p:sp>
        <p:nvSpPr>
          <p:cNvPr id="29044304" name="Shape 8"/>
          <p:cNvSpPr/>
          <p:nvPr/>
        </p:nvSpPr>
        <p:spPr bwMode="auto">
          <a:xfrm>
            <a:off x="508000" y="3556000"/>
            <a:ext cx="15240000" cy="508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  <a:ln/>
        </p:spPr>
      </p:sp>
      <p:sp>
        <p:nvSpPr>
          <p:cNvPr id="1447521879" name="Shape 9"/>
          <p:cNvSpPr/>
          <p:nvPr/>
        </p:nvSpPr>
        <p:spPr bwMode="auto">
          <a:xfrm>
            <a:off x="711200" y="3708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fill="norm" stroke="1" extrusionOk="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228B22"/>
          </a:solidFill>
          <a:ln/>
        </p:spPr>
      </p:sp>
      <p:sp>
        <p:nvSpPr>
          <p:cNvPr id="855488044" name="Text 10"/>
          <p:cNvSpPr/>
          <p:nvPr/>
        </p:nvSpPr>
        <p:spPr bwMode="auto">
          <a:xfrm>
            <a:off x="1168400" y="3556000"/>
            <a:ext cx="1435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Sanity check:</a:t>
            </a: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 Baseline EfficientNet-B4 (spatial only) achieves AUC = </a:t>
            </a:r>
            <a:r>
              <a:rPr lang="en-US" sz="14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0.7497</a:t>
            </a: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, matching the published value of </a:t>
            </a:r>
            <a:r>
              <a:rPr lang="en-US" sz="14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0.7487</a:t>
            </a: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 (diff ~0.001). This confirms the evaluation pipeline is correctly built.</a:t>
            </a:r>
            <a:endParaRPr lang="en-US" sz="1400"/>
          </a:p>
        </p:txBody>
      </p:sp>
      <p:sp>
        <p:nvSpPr>
          <p:cNvPr id="1678911210" name="Text 11"/>
          <p:cNvSpPr/>
          <p:nvPr/>
        </p:nvSpPr>
        <p:spPr bwMode="auto">
          <a:xfrm>
            <a:off x="508000" y="4699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6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Why Cross-Dataset Matters for eKYC</a:t>
            </a:r>
            <a:endParaRPr lang="en-US" sz="1600"/>
          </a:p>
        </p:txBody>
      </p:sp>
      <p:sp>
        <p:nvSpPr>
          <p:cNvPr id="1219091131" name="Shape 12"/>
          <p:cNvSpPr/>
          <p:nvPr/>
        </p:nvSpPr>
        <p:spPr bwMode="auto">
          <a:xfrm>
            <a:off x="508000" y="50800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93726138" name="Text 13"/>
          <p:cNvSpPr/>
          <p:nvPr/>
        </p:nvSpPr>
        <p:spPr bwMode="auto">
          <a:xfrm>
            <a:off x="508000" y="5207000"/>
            <a:ext cx="1524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</a:t>
            </a:r>
            <a:r>
              <a:rPr lang="en-US" sz="14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Realistic threat model</a:t>
            </a: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: Attackers in eKYC always use </a:t>
            </a:r>
            <a:r>
              <a:rPr lang="en-US" sz="14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newer forgery tools</a:t>
            </a: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 than those in the training set — the detector is frozen at training time</a:t>
            </a:r>
            <a:endParaRPr lang="en-US" sz="1400"/>
          </a:p>
          <a:p>
            <a:pPr algn="l">
              <a:lnSpc>
                <a:spcPct val="16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</a:t>
            </a:r>
            <a:r>
              <a:rPr lang="en-US" sz="14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In-dataset evaluation is optimistic</a:t>
            </a: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: Random train/test split on the same dataset measures memorisation, not generalisation</a:t>
            </a:r>
            <a:endParaRPr lang="en-US" sz="1400"/>
          </a:p>
          <a:p>
            <a:pPr algn="l">
              <a:lnSpc>
                <a:spcPct val="160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</a:t>
            </a:r>
            <a:r>
              <a:rPr lang="en-US" sz="14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Cross-dataset = generalisation test</a:t>
            </a: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: Different forgery methods, different face distributions, different compression pipelines</a:t>
            </a:r>
            <a:endParaRPr lang="en-US" sz="1400"/>
          </a:p>
        </p:txBody>
      </p:sp>
      <p:sp>
        <p:nvSpPr>
          <p:cNvPr id="1389374625" name="Shape 14"/>
          <p:cNvSpPr/>
          <p:nvPr/>
        </p:nvSpPr>
        <p:spPr bwMode="auto">
          <a:xfrm>
            <a:off x="508000" y="6680200"/>
            <a:ext cx="15240000" cy="762000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</p:sp>
      <p:sp>
        <p:nvSpPr>
          <p:cNvPr id="144568247" name="Text 15"/>
          <p:cNvSpPr/>
          <p:nvPr/>
        </p:nvSpPr>
        <p:spPr bwMode="auto">
          <a:xfrm>
            <a:off x="711200" y="6680200"/>
            <a:ext cx="148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Key message:</a:t>
            </a:r>
            <a:r>
              <a:rPr lang="en-US" sz="1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 The baseline reproduces the published number (0.7497 vs 0.7487), confirming the pipeline. Every subsequent score change can be attributed to model design, not setup error.</a:t>
            </a:r>
            <a:endParaRPr lang="en-US" sz="1400"/>
          </a:p>
        </p:txBody>
      </p:sp>
      <p:sp>
        <p:nvSpPr>
          <p:cNvPr id="1315579083" name="Text 16"/>
          <p:cNvSpPr/>
          <p:nvPr/>
        </p:nvSpPr>
        <p:spPr bwMode="auto"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  <a:defRPr/>
            </a:pPr>
            <a:r>
              <a:rPr lang="en-US" sz="14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12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F6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603450" name="Shape 0"/>
          <p:cNvSpPr/>
          <p:nvPr/>
        </p:nvSpPr>
        <p:spPr bwMode="auto"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702455973" name="Shape 1"/>
          <p:cNvSpPr/>
          <p:nvPr/>
        </p:nvSpPr>
        <p:spPr bwMode="auto"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84650189" name="Text 2"/>
          <p:cNvSpPr/>
          <p:nvPr/>
        </p:nvSpPr>
        <p:spPr bwMode="auto"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  <a:defRPr/>
            </a:pPr>
            <a:r>
              <a:rPr lang="en-US" sz="12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03 Results</a:t>
            </a:r>
            <a:endParaRPr lang="en-US" sz="1200"/>
          </a:p>
        </p:txBody>
      </p:sp>
      <p:sp>
        <p:nvSpPr>
          <p:cNvPr id="163351691" name="Text 3"/>
          <p:cNvSpPr/>
          <p:nvPr/>
        </p:nvSpPr>
        <p:spPr bwMode="auto"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Cross-Dataset Results and an Honest Reading</a:t>
            </a:r>
            <a:endParaRPr lang="en-US" sz="2400"/>
          </a:p>
        </p:txBody>
      </p:sp>
      <p:sp>
        <p:nvSpPr>
          <p:cNvPr id="997471947" name="Shape 4"/>
          <p:cNvSpPr/>
          <p:nvPr/>
        </p:nvSpPr>
        <p:spPr bwMode="auto">
          <a:xfrm>
            <a:off x="508000" y="863599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graphicFrame>
        <p:nvGraphicFramePr>
          <p:cNvPr id="1393907948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508000" y="1041400"/>
          <a:ext cx="8636000" cy="25400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454399"/>
                <a:gridCol w="1727199"/>
                <a:gridCol w="1727199"/>
                <a:gridCol w="1727199"/>
              </a:tblGrid>
              <a:tr h="5080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Frame AUC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vs B4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Floor?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1A4A7A"/>
                    </a:solidFill>
                  </a:tcPr>
                </a:tc>
              </a:tr>
              <a:tr h="5080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rgbClr val="2C2C2C"/>
                          </a:solidFill>
                        </a:rPr>
                        <a:t>B4 (spatial only)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rgbClr val="2C2C2C"/>
                          </a:solidFill>
                        </a:rPr>
                        <a:t>0.7497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rgbClr val="2C2C2C"/>
                          </a:solidFill>
                        </a:rPr>
                        <a:t>—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rgbClr val="2C2C2C"/>
                          </a:solidFill>
                        </a:rPr>
                        <a:t>Yes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rgbClr val="2C2C2C"/>
                          </a:solidFill>
                        </a:rPr>
                        <a:t>SFDCT (band stats)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 b="1">
                          <a:solidFill>
                            <a:srgbClr val="2C2C2C"/>
                          </a:solidFill>
                        </a:rPr>
                        <a:t>0.7572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rgbClr val="2C2C2C"/>
                          </a:solidFill>
                        </a:rPr>
                        <a:t>+0.0075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rgbClr val="228B22"/>
                          </a:solidFill>
                        </a:rPr>
                        <a:t>Yes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5080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 b="1">
                          <a:solidFill>
                            <a:srgbClr val="2C2C2C"/>
                          </a:solidFill>
                        </a:rPr>
                        <a:t>SFDCT-HFF (full)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 b="1">
                          <a:solidFill>
                            <a:srgbClr val="2C2C2C"/>
                          </a:solidFill>
                        </a:rPr>
                        <a:t>0.7695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rgbClr val="2C2C2C"/>
                          </a:solidFill>
                        </a:rPr>
                        <a:t>+0.0198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rgbClr val="228B22"/>
                          </a:solidFill>
                        </a:rPr>
                        <a:t>Yes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 i="1">
                          <a:solidFill>
                            <a:srgbClr val="2C2C2C"/>
                          </a:solidFill>
                        </a:rPr>
                        <a:t>Published phase-based freq.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 i="1">
                          <a:solidFill>
                            <a:srgbClr val="2C2C2C"/>
                          </a:solidFill>
                        </a:rPr>
                        <a:t>0.7650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 i="1">
                          <a:solidFill>
                            <a:srgbClr val="2C2C2C"/>
                          </a:solidFill>
                        </a:rPr>
                        <a:t>+0.0153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 i="1">
                          <a:solidFill>
                            <a:srgbClr val="2C2C2C"/>
                          </a:solidFill>
                        </a:rPr>
                        <a:t>—</a:t>
                      </a:r>
                      <a:endParaRPr lang="en-US" sz="1600"/>
                    </a:p>
                  </a:txBody>
                  <a:tcPr marL="54864" marR="54864" marT="0" marB="0" anchor="ctr">
                    <a:lnL w="12700" algn="ctr">
                      <a:solidFill>
                        <a:srgbClr val="E0E0E0"/>
                      </a:solidFill>
                    </a:lnL>
                    <a:lnR w="12700" algn="ctr">
                      <a:solidFill>
                        <a:srgbClr val="E0E0E0"/>
                      </a:solidFill>
                    </a:lnR>
                    <a:lnT w="12700" algn="ctr">
                      <a:solidFill>
                        <a:srgbClr val="E0E0E0"/>
                      </a:solidFill>
                    </a:lnT>
                    <a:lnB w="12700" algn="ctr">
                      <a:solidFill>
                        <a:srgbClr val="E0E0E0"/>
                      </a:solidFill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328459247" name="Text 5"/>
          <p:cNvSpPr/>
          <p:nvPr/>
        </p:nvSpPr>
        <p:spPr bwMode="auto">
          <a:xfrm>
            <a:off x="9652000" y="1041400"/>
            <a:ext cx="609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6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An Honest Reading</a:t>
            </a:r>
            <a:endParaRPr lang="en-US" sz="1600"/>
          </a:p>
        </p:txBody>
      </p:sp>
      <p:sp>
        <p:nvSpPr>
          <p:cNvPr id="1994205803" name="Shape 6"/>
          <p:cNvSpPr/>
          <p:nvPr/>
        </p:nvSpPr>
        <p:spPr bwMode="auto">
          <a:xfrm>
            <a:off x="9652000" y="1422400"/>
            <a:ext cx="6096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50881030" name="Text 7"/>
          <p:cNvSpPr/>
          <p:nvPr/>
        </p:nvSpPr>
        <p:spPr bwMode="auto">
          <a:xfrm>
            <a:off x="9652000" y="1524000"/>
            <a:ext cx="609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  <a:defRPr/>
            </a:pPr>
            <a:r>
              <a:rPr lang="en-US" sz="13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Order </a:t>
            </a:r>
            <a:r>
              <a:rPr lang="en-US" sz="13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follows hypothesis</a:t>
            </a:r>
            <a:r>
              <a:rPr lang="en-US" sz="13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: B4 &lt; SFDCT &lt; HFF</a:t>
            </a:r>
            <a:endParaRPr lang="en-US" sz="1300"/>
          </a:p>
          <a:p>
            <a:pPr algn="l">
              <a:lnSpc>
                <a:spcPct val="150000"/>
              </a:lnSpc>
              <a:defRPr/>
            </a:pPr>
            <a:r>
              <a:rPr lang="en-US" sz="13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</a:t>
            </a:r>
            <a:r>
              <a:rPr lang="en-US" sz="13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Floor holds</a:t>
            </a:r>
            <a:r>
              <a:rPr lang="en-US" sz="13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 at frame level for every variant</a:t>
            </a:r>
            <a:endParaRPr lang="en-US" sz="1300"/>
          </a:p>
          <a:p>
            <a:pPr algn="l">
              <a:lnSpc>
                <a:spcPct val="150000"/>
              </a:lnSpc>
              <a:defRPr/>
            </a:pPr>
            <a:r>
              <a:rPr lang="en-US" sz="13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Mean-over-run &lt;&lt; best: best-on-test is optimistic</a:t>
            </a:r>
            <a:endParaRPr lang="en-US" sz="1300"/>
          </a:p>
          <a:p>
            <a:pPr algn="l">
              <a:lnSpc>
                <a:spcPct val="150000"/>
              </a:lnSpc>
              <a:defRPr/>
            </a:pPr>
            <a:r>
              <a:rPr lang="en-US" sz="13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Video bootstrap (518 clips): </a:t>
            </a:r>
            <a:r>
              <a:rPr lang="en-US" sz="13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every paired CI contains zero</a:t>
            </a:r>
            <a:endParaRPr lang="en-US" sz="1300"/>
          </a:p>
          <a:p>
            <a:pPr algn="l">
              <a:lnSpc>
                <a:spcPct val="150000"/>
              </a:lnSpc>
              <a:defRPr/>
            </a:pPr>
            <a:r>
              <a:rPr lang="en-US" sz="13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Phase-based freq. method (0.7650) &gt; naive SFDCT</a:t>
            </a:r>
            <a:endParaRPr lang="en-US" sz="1300"/>
          </a:p>
          <a:p>
            <a:pPr algn="l">
              <a:lnSpc>
                <a:spcPct val="150000"/>
              </a:lnSpc>
              <a:defRPr/>
            </a:pPr>
            <a:r>
              <a:rPr lang="en-US" sz="13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• </a:t>
            </a:r>
            <a:r>
              <a:rPr lang="en-US" sz="13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No SOTA claim</a:t>
            </a:r>
            <a:r>
              <a:rPr lang="en-US" sz="13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 — gains sit inside single-seed noise</a:t>
            </a:r>
            <a:endParaRPr lang="en-US" sz="1300"/>
          </a:p>
        </p:txBody>
      </p:sp>
      <p:sp>
        <p:nvSpPr>
          <p:cNvPr id="1758642598" name="Shape 8"/>
          <p:cNvSpPr/>
          <p:nvPr/>
        </p:nvSpPr>
        <p:spPr bwMode="auto">
          <a:xfrm>
            <a:off x="508000" y="3810000"/>
            <a:ext cx="15240000" cy="1270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  <a:ln/>
        </p:spPr>
      </p:sp>
      <p:sp>
        <p:nvSpPr>
          <p:cNvPr id="909753743" name="Text 9"/>
          <p:cNvSpPr/>
          <p:nvPr/>
        </p:nvSpPr>
        <p:spPr bwMode="auto">
          <a:xfrm>
            <a:off x="711200" y="38862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5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What the Numbers Mean</a:t>
            </a:r>
            <a:endParaRPr lang="en-US" sz="1500"/>
          </a:p>
        </p:txBody>
      </p:sp>
      <p:sp>
        <p:nvSpPr>
          <p:cNvPr id="2128611127" name="Text 10"/>
          <p:cNvSpPr/>
          <p:nvPr/>
        </p:nvSpPr>
        <p:spPr bwMode="auto">
          <a:xfrm>
            <a:off x="711200" y="4241800"/>
            <a:ext cx="1483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  <a:defRPr/>
            </a:pPr>
            <a:r>
              <a:rPr lang="en-US" sz="13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At 5% false-positive rate (eKYC requirement), the model catches ~23% of deepfakes. This positions SFDCT-HFF as a </a:t>
            </a:r>
            <a:r>
              <a:rPr lang="en-US" sz="1300" b="1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risk-screening layer with explanation</a:t>
            </a:r>
            <a:r>
              <a:rPr lang="en-US" sz="13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 (Grad-CAM heatmap), not an absolute gate. The output is a signal for human review, not a final verdict.</a:t>
            </a:r>
            <a:endParaRPr lang="en-US" sz="1300"/>
          </a:p>
        </p:txBody>
      </p:sp>
      <p:sp>
        <p:nvSpPr>
          <p:cNvPr id="1908006181" name="Shape 11"/>
          <p:cNvSpPr/>
          <p:nvPr/>
        </p:nvSpPr>
        <p:spPr bwMode="auto">
          <a:xfrm>
            <a:off x="508000" y="5308600"/>
            <a:ext cx="15240000" cy="762000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</p:sp>
      <p:sp>
        <p:nvSpPr>
          <p:cNvPr id="100546306" name="Text 12"/>
          <p:cNvSpPr/>
          <p:nvPr/>
        </p:nvSpPr>
        <p:spPr bwMode="auto">
          <a:xfrm>
            <a:off x="711200" y="5308600"/>
            <a:ext cx="148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Key message:</a:t>
            </a:r>
            <a:r>
              <a:rPr lang="en-US" sz="1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 The order follows the hypothesis and the floor holds, but at one random seed every paired confidence interval contains zero. This is an honest small improvement, not a superiority claim. A phase-based frequency method scores higher (0.7650).</a:t>
            </a:r>
            <a:endParaRPr lang="en-US" sz="1400"/>
          </a:p>
        </p:txBody>
      </p:sp>
      <p:sp>
        <p:nvSpPr>
          <p:cNvPr id="507149604" name="Text 13"/>
          <p:cNvSpPr/>
          <p:nvPr/>
        </p:nvSpPr>
        <p:spPr bwMode="auto"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  <a:defRPr/>
            </a:pPr>
            <a:r>
              <a:rPr lang="en-US" sz="14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13</a:t>
            </a:r>
            <a:endParaRPr lang="en-US" sz="1400"/>
          </a:p>
        </p:txBody>
      </p:sp>
      <p:pic>
        <p:nvPicPr>
          <p:cNvPr id="217673790" name="Picture 2105804127" descr="fig_3_7_roc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744059" y="6126480"/>
            <a:ext cx="2936041" cy="2468880"/>
          </a:xfrm>
          <a:prstGeom prst="rect">
            <a:avLst/>
          </a:prstGeom>
        </p:spPr>
      </p:pic>
      <p:pic>
        <p:nvPicPr>
          <p:cNvPr id="1201023795" name="Picture 2105804128" descr="fig_3_9_train_hff_r3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527650" y="6263640"/>
            <a:ext cx="3530379" cy="2194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F6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6022489" name="Shape 0"/>
          <p:cNvSpPr/>
          <p:nvPr/>
        </p:nvSpPr>
        <p:spPr bwMode="auto"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794337671" name="Shape 1"/>
          <p:cNvSpPr/>
          <p:nvPr/>
        </p:nvSpPr>
        <p:spPr bwMode="auto">
          <a:xfrm>
            <a:off x="6096000" y="1778000"/>
            <a:ext cx="12700" cy="55880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84206282" name="Text 2"/>
          <p:cNvSpPr/>
          <p:nvPr/>
        </p:nvSpPr>
        <p:spPr bwMode="auto">
          <a:xfrm>
            <a:off x="762000" y="2540000"/>
            <a:ext cx="4826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20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04</a:t>
            </a:r>
            <a:endParaRPr lang="en-US" sz="12000"/>
          </a:p>
        </p:txBody>
      </p:sp>
      <p:sp>
        <p:nvSpPr>
          <p:cNvPr id="1704451286" name="Text 3"/>
          <p:cNvSpPr/>
          <p:nvPr/>
        </p:nvSpPr>
        <p:spPr bwMode="auto">
          <a:xfrm>
            <a:off x="762000" y="5080000"/>
            <a:ext cx="482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600" spc="4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CHAPTER FOUR</a:t>
            </a:r>
            <a:endParaRPr lang="en-US" sz="1600"/>
          </a:p>
        </p:txBody>
      </p:sp>
      <p:sp>
        <p:nvSpPr>
          <p:cNvPr id="2027501565" name="Text 4"/>
          <p:cNvSpPr/>
          <p:nvPr/>
        </p:nvSpPr>
        <p:spPr bwMode="auto">
          <a:xfrm>
            <a:off x="6604000" y="2997200"/>
            <a:ext cx="8890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  <a:defRPr/>
            </a:pPr>
            <a:r>
              <a:rPr lang="en-US" sz="36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Conclusion</a:t>
            </a:r>
            <a:endParaRPr lang="en-US" sz="3600"/>
          </a:p>
        </p:txBody>
      </p:sp>
      <p:sp>
        <p:nvSpPr>
          <p:cNvPr id="2127822248" name="Text 5"/>
          <p:cNvSpPr/>
          <p:nvPr/>
        </p:nvSpPr>
        <p:spPr bwMode="auto">
          <a:xfrm>
            <a:off x="6604000" y="38354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800">
                <a:solidFill>
                  <a:srgbClr val="AAAAAA"/>
                </a:solidFill>
                <a:latin typeface="Quattrocento Sans"/>
                <a:ea typeface="Quattrocento Sans"/>
                <a:cs typeface="Quattrocento Sans"/>
              </a:rPr>
              <a:t>Contributions, Limitations &amp; Future Directions</a:t>
            </a:r>
            <a:endParaRPr lang="en-US" sz="1800"/>
          </a:p>
        </p:txBody>
      </p:sp>
      <p:sp>
        <p:nvSpPr>
          <p:cNvPr id="72878784" name="Shape 6"/>
          <p:cNvSpPr/>
          <p:nvPr/>
        </p:nvSpPr>
        <p:spPr bwMode="auto">
          <a:xfrm>
            <a:off x="6604000" y="4572000"/>
            <a:ext cx="4064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24032069" name="Text 7"/>
          <p:cNvSpPr/>
          <p:nvPr/>
        </p:nvSpPr>
        <p:spPr bwMode="auto">
          <a:xfrm>
            <a:off x="6604000" y="48260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6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4.1  Conclusion and Contributions</a:t>
            </a:r>
            <a:endParaRPr lang="en-US" sz="1600"/>
          </a:p>
        </p:txBody>
      </p:sp>
      <p:sp>
        <p:nvSpPr>
          <p:cNvPr id="1073851696" name="Text 8"/>
          <p:cNvSpPr/>
          <p:nvPr/>
        </p:nvSpPr>
        <p:spPr bwMode="auto">
          <a:xfrm>
            <a:off x="6604000" y="52832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6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4.2  Limitations and Development Directions</a:t>
            </a:r>
            <a:endParaRPr lang="en-US" sz="1600"/>
          </a:p>
        </p:txBody>
      </p:sp>
      <p:sp>
        <p:nvSpPr>
          <p:cNvPr id="1995172754" name="Text 9"/>
          <p:cNvSpPr/>
          <p:nvPr/>
        </p:nvSpPr>
        <p:spPr bwMode="auto"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  <a:defRPr/>
            </a:pPr>
            <a:r>
              <a:rPr lang="en-US" sz="14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14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bg>
      <p:bgPr shadeToTitle="0">
        <a:solidFill>
          <a:srgbClr val="F6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908764" name="Shape 0"/>
          <p:cNvSpPr/>
          <p:nvPr/>
        </p:nvSpPr>
        <p:spPr bwMode="auto"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207598804" name="Shape 1"/>
          <p:cNvSpPr/>
          <p:nvPr/>
        </p:nvSpPr>
        <p:spPr bwMode="auto"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74947558" name="Text 2"/>
          <p:cNvSpPr/>
          <p:nvPr/>
        </p:nvSpPr>
        <p:spPr bwMode="auto"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  <a:defRPr/>
            </a:pPr>
            <a:r>
              <a:rPr lang="en-US" sz="12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04 Conclusion</a:t>
            </a:r>
            <a:endParaRPr lang="en-US" sz="1200"/>
          </a:p>
        </p:txBody>
      </p:sp>
      <p:sp>
        <p:nvSpPr>
          <p:cNvPr id="1038769607" name="Text 3"/>
          <p:cNvSpPr/>
          <p:nvPr/>
        </p:nvSpPr>
        <p:spPr bwMode="auto"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Conclusion and Contributions</a:t>
            </a:r>
            <a:endParaRPr lang="en-US" sz="2400"/>
          </a:p>
        </p:txBody>
      </p:sp>
      <p:sp>
        <p:nvSpPr>
          <p:cNvPr id="271545644" name="Shape 4"/>
          <p:cNvSpPr/>
          <p:nvPr/>
        </p:nvSpPr>
        <p:spPr bwMode="auto">
          <a:xfrm>
            <a:off x="508000" y="863599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31508669" name="Shape 5"/>
          <p:cNvSpPr/>
          <p:nvPr/>
        </p:nvSpPr>
        <p:spPr bwMode="auto">
          <a:xfrm>
            <a:off x="508000" y="1041400"/>
            <a:ext cx="4648200" cy="2794000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</p:sp>
      <p:sp>
        <p:nvSpPr>
          <p:cNvPr id="1950805947" name="Shape 6"/>
          <p:cNvSpPr/>
          <p:nvPr/>
        </p:nvSpPr>
        <p:spPr bwMode="auto">
          <a:xfrm>
            <a:off x="508000" y="1041400"/>
            <a:ext cx="4648200" cy="635000"/>
          </a:xfrm>
          <a:prstGeom prst="roundRect">
            <a:avLst>
              <a:gd name="adj" fmla="val 4000"/>
            </a:avLst>
          </a:prstGeom>
          <a:solidFill>
            <a:srgbClr val="123960"/>
          </a:solidFill>
          <a:ln/>
        </p:spPr>
      </p:sp>
      <p:sp>
        <p:nvSpPr>
          <p:cNvPr id="113254583" name="Text 7"/>
          <p:cNvSpPr/>
          <p:nvPr/>
        </p:nvSpPr>
        <p:spPr bwMode="auto">
          <a:xfrm>
            <a:off x="508000" y="1041400"/>
            <a:ext cx="46482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3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CONTRIBUTION 01</a:t>
            </a:r>
            <a:endParaRPr lang="en-US" sz="1300"/>
          </a:p>
        </p:txBody>
      </p:sp>
      <p:sp>
        <p:nvSpPr>
          <p:cNvPr id="513852191" name="Text 8"/>
          <p:cNvSpPr/>
          <p:nvPr/>
        </p:nvSpPr>
        <p:spPr bwMode="auto">
          <a:xfrm>
            <a:off x="711200" y="1803400"/>
            <a:ext cx="42418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Zero-Init Floor Guarantee</a:t>
            </a:r>
            <a:endParaRPr lang="en-US" sz="1400"/>
          </a:p>
          <a:p>
            <a:pPr algn="l">
              <a:lnSpc>
                <a:spcPct val="150000"/>
              </a:lnSpc>
              <a:defRPr/>
            </a:pPr>
            <a:r>
              <a:rPr lang="en-US" sz="1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The gated fusion gate starts at alpha=0, so the model begins exactly equal to the proven backbone. Attaching the frequency branch can never hurt at initialisation.</a:t>
            </a:r>
            <a:endParaRPr lang="en-US" sz="1400"/>
          </a:p>
        </p:txBody>
      </p:sp>
      <p:sp>
        <p:nvSpPr>
          <p:cNvPr id="568411554" name="Shape 9"/>
          <p:cNvSpPr/>
          <p:nvPr/>
        </p:nvSpPr>
        <p:spPr bwMode="auto">
          <a:xfrm>
            <a:off x="5803900" y="1041400"/>
            <a:ext cx="4648200" cy="2794000"/>
          </a:xfrm>
          <a:prstGeom prst="roundRect">
            <a:avLst>
              <a:gd name="adj" fmla="val 4000"/>
            </a:avLst>
          </a:prstGeom>
          <a:solidFill>
            <a:srgbClr val="5B9BD5"/>
          </a:solidFill>
          <a:ln/>
        </p:spPr>
      </p:sp>
      <p:sp>
        <p:nvSpPr>
          <p:cNvPr id="804440634" name="Shape 10"/>
          <p:cNvSpPr/>
          <p:nvPr/>
        </p:nvSpPr>
        <p:spPr bwMode="auto">
          <a:xfrm>
            <a:off x="5803900" y="1041400"/>
            <a:ext cx="4648200" cy="635000"/>
          </a:xfrm>
          <a:prstGeom prst="roundRect">
            <a:avLst>
              <a:gd name="adj" fmla="val 4000"/>
            </a:avLst>
          </a:prstGeom>
          <a:solidFill>
            <a:srgbClr val="3A6A9A"/>
          </a:solidFill>
          <a:ln/>
        </p:spPr>
      </p:sp>
      <p:sp>
        <p:nvSpPr>
          <p:cNvPr id="856641930" name="Text 11"/>
          <p:cNvSpPr/>
          <p:nvPr/>
        </p:nvSpPr>
        <p:spPr bwMode="auto">
          <a:xfrm>
            <a:off x="5803900" y="1041400"/>
            <a:ext cx="46482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3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CONTRIBUTION 02</a:t>
            </a:r>
            <a:endParaRPr lang="en-US" sz="1300"/>
          </a:p>
        </p:txBody>
      </p:sp>
      <p:sp>
        <p:nvSpPr>
          <p:cNvPr id="1992332077" name="Text 12"/>
          <p:cNvSpPr/>
          <p:nvPr/>
        </p:nvSpPr>
        <p:spPr bwMode="auto">
          <a:xfrm>
            <a:off x="6007100" y="1803400"/>
            <a:ext cx="42418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Honest Evaluation with Bootstrap CI</a:t>
            </a:r>
            <a:endParaRPr lang="en-US" sz="1400"/>
          </a:p>
          <a:p>
            <a:pPr algn="l">
              <a:lnSpc>
                <a:spcPct val="150000"/>
              </a:lnSpc>
              <a:defRPr/>
            </a:pPr>
            <a:r>
              <a:rPr lang="en-US" sz="1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Baseline reproduces published number. Every paired bootstrap CI contains zero at one seed — reported transparently. No superiority claim is made.</a:t>
            </a:r>
            <a:endParaRPr lang="en-US" sz="1400"/>
          </a:p>
        </p:txBody>
      </p:sp>
      <p:sp>
        <p:nvSpPr>
          <p:cNvPr id="433755026" name="Shape 13"/>
          <p:cNvSpPr/>
          <p:nvPr/>
        </p:nvSpPr>
        <p:spPr bwMode="auto">
          <a:xfrm>
            <a:off x="11099800" y="1041400"/>
            <a:ext cx="4648200" cy="2794000"/>
          </a:xfrm>
          <a:prstGeom prst="roundRect">
            <a:avLst>
              <a:gd name="adj" fmla="val 4000"/>
            </a:avLst>
          </a:prstGeom>
          <a:solidFill>
            <a:srgbClr val="2E86C1"/>
          </a:solidFill>
          <a:ln/>
        </p:spPr>
      </p:sp>
      <p:sp>
        <p:nvSpPr>
          <p:cNvPr id="685116967" name="Shape 14"/>
          <p:cNvSpPr/>
          <p:nvPr/>
        </p:nvSpPr>
        <p:spPr bwMode="auto">
          <a:xfrm>
            <a:off x="11099800" y="1041400"/>
            <a:ext cx="4648200" cy="635000"/>
          </a:xfrm>
          <a:prstGeom prst="roundRect">
            <a:avLst>
              <a:gd name="adj" fmla="val 4000"/>
            </a:avLst>
          </a:prstGeom>
          <a:solidFill>
            <a:srgbClr val="1E6A7E"/>
          </a:solidFill>
          <a:ln/>
        </p:spPr>
      </p:sp>
      <p:sp>
        <p:nvSpPr>
          <p:cNvPr id="1995215293" name="Text 15"/>
          <p:cNvSpPr/>
          <p:nvPr/>
        </p:nvSpPr>
        <p:spPr bwMode="auto">
          <a:xfrm>
            <a:off x="11099800" y="1041400"/>
            <a:ext cx="46482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3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CONTRIBUTION 03</a:t>
            </a:r>
            <a:endParaRPr lang="en-US" sz="1300"/>
          </a:p>
        </p:txBody>
      </p:sp>
      <p:sp>
        <p:nvSpPr>
          <p:cNvPr id="273823674" name="Text 16"/>
          <p:cNvSpPr/>
          <p:nvPr/>
        </p:nvSpPr>
        <p:spPr bwMode="auto">
          <a:xfrm>
            <a:off x="11303000" y="1803400"/>
            <a:ext cx="42418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End-to-End Explainable System on CPU</a:t>
            </a:r>
            <a:endParaRPr lang="en-US" sz="1400"/>
          </a:p>
          <a:p>
            <a:pPr algn="l">
              <a:lnSpc>
                <a:spcPct val="150000"/>
              </a:lnSpc>
              <a:defRPr/>
            </a:pPr>
            <a:r>
              <a:rPr lang="en-US" sz="1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Full pipeline runs on CPU (~1s/image). Returns fake probability, verdict, Grad-CAM heatmap, and DCT spectrum for human reviewer transparency.</a:t>
            </a:r>
            <a:endParaRPr lang="en-US" sz="1400"/>
          </a:p>
        </p:txBody>
      </p:sp>
      <p:sp>
        <p:nvSpPr>
          <p:cNvPr id="1575417346" name="Text 17"/>
          <p:cNvSpPr/>
          <p:nvPr/>
        </p:nvSpPr>
        <p:spPr bwMode="auto">
          <a:xfrm>
            <a:off x="508000" y="4064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6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Summary Numbers</a:t>
            </a:r>
            <a:endParaRPr lang="en-US" sz="1600"/>
          </a:p>
        </p:txBody>
      </p:sp>
      <p:sp>
        <p:nvSpPr>
          <p:cNvPr id="1714510408" name="Shape 18"/>
          <p:cNvSpPr/>
          <p:nvPr/>
        </p:nvSpPr>
        <p:spPr bwMode="auto">
          <a:xfrm>
            <a:off x="508000" y="44450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03804613" name="Shape 19"/>
          <p:cNvSpPr/>
          <p:nvPr/>
        </p:nvSpPr>
        <p:spPr bwMode="auto">
          <a:xfrm>
            <a:off x="508000" y="4597400"/>
            <a:ext cx="2794000" cy="889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2025318472" name="Text 20"/>
          <p:cNvSpPr/>
          <p:nvPr/>
        </p:nvSpPr>
        <p:spPr bwMode="auto">
          <a:xfrm>
            <a:off x="508000" y="4622799"/>
            <a:ext cx="279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22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0.7497</a:t>
            </a:r>
            <a:endParaRPr lang="en-US" sz="2200"/>
          </a:p>
        </p:txBody>
      </p:sp>
      <p:sp>
        <p:nvSpPr>
          <p:cNvPr id="1848001117" name="Text 21"/>
          <p:cNvSpPr/>
          <p:nvPr/>
        </p:nvSpPr>
        <p:spPr bwMode="auto">
          <a:xfrm>
            <a:off x="508000" y="51054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</a:rPr>
              <a:t>B4 baseline AUC</a:t>
            </a:r>
            <a:endParaRPr lang="en-US" sz="1200"/>
          </a:p>
        </p:txBody>
      </p:sp>
      <p:sp>
        <p:nvSpPr>
          <p:cNvPr id="75612402" name="Shape 22"/>
          <p:cNvSpPr/>
          <p:nvPr/>
        </p:nvSpPr>
        <p:spPr bwMode="auto">
          <a:xfrm>
            <a:off x="3556000" y="4597400"/>
            <a:ext cx="2794000" cy="889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780142810" name="Text 23"/>
          <p:cNvSpPr/>
          <p:nvPr/>
        </p:nvSpPr>
        <p:spPr bwMode="auto">
          <a:xfrm>
            <a:off x="3556000" y="4622799"/>
            <a:ext cx="279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2200" b="1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0.7572</a:t>
            </a:r>
            <a:endParaRPr lang="en-US" sz="2200"/>
          </a:p>
        </p:txBody>
      </p:sp>
      <p:sp>
        <p:nvSpPr>
          <p:cNvPr id="62071929" name="Text 24"/>
          <p:cNvSpPr/>
          <p:nvPr/>
        </p:nvSpPr>
        <p:spPr bwMode="auto">
          <a:xfrm>
            <a:off x="3556000" y="51054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</a:rPr>
              <a:t>SFDCT AUC</a:t>
            </a:r>
            <a:endParaRPr lang="en-US" sz="1200"/>
          </a:p>
        </p:txBody>
      </p:sp>
      <p:sp>
        <p:nvSpPr>
          <p:cNvPr id="1223018557" name="Shape 25"/>
          <p:cNvSpPr/>
          <p:nvPr/>
        </p:nvSpPr>
        <p:spPr bwMode="auto">
          <a:xfrm>
            <a:off x="6604000" y="4597400"/>
            <a:ext cx="2794000" cy="889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1905494561" name="Text 26"/>
          <p:cNvSpPr/>
          <p:nvPr/>
        </p:nvSpPr>
        <p:spPr bwMode="auto">
          <a:xfrm>
            <a:off x="6604000" y="4622799"/>
            <a:ext cx="279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2200" b="1">
                <a:solidFill>
                  <a:srgbClr val="2E86C1"/>
                </a:solidFill>
                <a:latin typeface="Quattrocento Sans"/>
                <a:ea typeface="Quattrocento Sans"/>
                <a:cs typeface="Quattrocento Sans"/>
              </a:rPr>
              <a:t>0.7695</a:t>
            </a:r>
            <a:endParaRPr lang="en-US" sz="2200"/>
          </a:p>
        </p:txBody>
      </p:sp>
      <p:sp>
        <p:nvSpPr>
          <p:cNvPr id="1320522830" name="Text 27"/>
          <p:cNvSpPr/>
          <p:nvPr/>
        </p:nvSpPr>
        <p:spPr bwMode="auto">
          <a:xfrm>
            <a:off x="6604000" y="51054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</a:rPr>
              <a:t>SFDCT-HFF AUC</a:t>
            </a:r>
            <a:endParaRPr lang="en-US" sz="1200"/>
          </a:p>
        </p:txBody>
      </p:sp>
      <p:sp>
        <p:nvSpPr>
          <p:cNvPr id="116296685" name="Shape 28"/>
          <p:cNvSpPr/>
          <p:nvPr/>
        </p:nvSpPr>
        <p:spPr bwMode="auto">
          <a:xfrm>
            <a:off x="9652000" y="4597400"/>
            <a:ext cx="2794000" cy="889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1556863986" name="Text 29"/>
          <p:cNvSpPr/>
          <p:nvPr/>
        </p:nvSpPr>
        <p:spPr bwMode="auto">
          <a:xfrm>
            <a:off x="9652000" y="4622799"/>
            <a:ext cx="279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22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~0.98</a:t>
            </a:r>
            <a:endParaRPr lang="en-US" sz="2200"/>
          </a:p>
        </p:txBody>
      </p:sp>
      <p:sp>
        <p:nvSpPr>
          <p:cNvPr id="1957203404" name="Text 30"/>
          <p:cNvSpPr/>
          <p:nvPr/>
        </p:nvSpPr>
        <p:spPr bwMode="auto">
          <a:xfrm>
            <a:off x="9652000" y="51054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</a:rPr>
              <a:t>Liveness AUC</a:t>
            </a:r>
            <a:endParaRPr lang="en-US" sz="1200"/>
          </a:p>
        </p:txBody>
      </p:sp>
      <p:sp>
        <p:nvSpPr>
          <p:cNvPr id="1011355815" name="Shape 31"/>
          <p:cNvSpPr/>
          <p:nvPr/>
        </p:nvSpPr>
        <p:spPr bwMode="auto">
          <a:xfrm>
            <a:off x="12700000" y="4597400"/>
            <a:ext cx="3048000" cy="889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1727731173" name="Text 32"/>
          <p:cNvSpPr/>
          <p:nvPr/>
        </p:nvSpPr>
        <p:spPr bwMode="auto">
          <a:xfrm>
            <a:off x="12700000" y="4622799"/>
            <a:ext cx="304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22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~1s</a:t>
            </a:r>
            <a:endParaRPr lang="en-US" sz="2200"/>
          </a:p>
        </p:txBody>
      </p:sp>
      <p:sp>
        <p:nvSpPr>
          <p:cNvPr id="1250343001" name="Text 33"/>
          <p:cNvSpPr/>
          <p:nvPr/>
        </p:nvSpPr>
        <p:spPr bwMode="auto">
          <a:xfrm>
            <a:off x="12700000" y="51054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</a:rPr>
              <a:t>CPU latency / image</a:t>
            </a:r>
            <a:endParaRPr lang="en-US" sz="1200"/>
          </a:p>
        </p:txBody>
      </p:sp>
      <p:sp>
        <p:nvSpPr>
          <p:cNvPr id="1043018558" name="Shape 34"/>
          <p:cNvSpPr/>
          <p:nvPr/>
        </p:nvSpPr>
        <p:spPr bwMode="auto">
          <a:xfrm>
            <a:off x="508000" y="5740400"/>
            <a:ext cx="15240000" cy="889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  <a:ln/>
        </p:spPr>
      </p:sp>
      <p:sp>
        <p:nvSpPr>
          <p:cNvPr id="1011057210" name="Text 35"/>
          <p:cNvSpPr/>
          <p:nvPr/>
        </p:nvSpPr>
        <p:spPr bwMode="auto">
          <a:xfrm>
            <a:off x="711200" y="5740400"/>
            <a:ext cx="14833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Key message:</a:t>
            </a:r>
            <a:r>
              <a:rPr lang="en-US" sz="1400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 The thesis delivers its goal — a cross-dataset deepfake detector for banking eKYC with a zero-init floor guarantee, honest evaluation, and an explainable CPU-ready system. The frequency gain is small and transparently reported, not claimed as SOTA.</a:t>
            </a:r>
            <a:endParaRPr lang="en-US" sz="1400"/>
          </a:p>
        </p:txBody>
      </p:sp>
      <p:sp>
        <p:nvSpPr>
          <p:cNvPr id="1074371905" name="Text 36"/>
          <p:cNvSpPr/>
          <p:nvPr/>
        </p:nvSpPr>
        <p:spPr bwMode="auto"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  <a:defRPr/>
            </a:pPr>
            <a:r>
              <a:rPr lang="en-US" sz="14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15</a:t>
            </a:r>
            <a:endParaRPr lang="en-US" sz="1400"/>
          </a:p>
        </p:txBody>
      </p:sp>
      <p:pic>
        <p:nvPicPr>
          <p:cNvPr id="1281756686" name="Picture 2022179845" descr="fig_3_12_gradcam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210300" y="6583680"/>
            <a:ext cx="3947160" cy="2029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bg>
      <p:bgPr shadeToTitle="0">
        <a:solidFill>
          <a:srgbClr val="F6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055023" name="Shape 0"/>
          <p:cNvSpPr/>
          <p:nvPr/>
        </p:nvSpPr>
        <p:spPr bwMode="auto"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803197915" name="Shape 1"/>
          <p:cNvSpPr/>
          <p:nvPr/>
        </p:nvSpPr>
        <p:spPr bwMode="auto"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2031069" name="Text 2"/>
          <p:cNvSpPr/>
          <p:nvPr/>
        </p:nvSpPr>
        <p:spPr bwMode="auto"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  <a:defRPr/>
            </a:pPr>
            <a:r>
              <a:rPr lang="en-US" sz="12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04 Conclusion</a:t>
            </a:r>
            <a:endParaRPr lang="en-US" sz="1200"/>
          </a:p>
        </p:txBody>
      </p:sp>
      <p:sp>
        <p:nvSpPr>
          <p:cNvPr id="752392873" name="Text 3"/>
          <p:cNvSpPr/>
          <p:nvPr/>
        </p:nvSpPr>
        <p:spPr bwMode="auto"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Limitations and Development Directions</a:t>
            </a:r>
            <a:endParaRPr lang="en-US" sz="2400"/>
          </a:p>
        </p:txBody>
      </p:sp>
      <p:sp>
        <p:nvSpPr>
          <p:cNvPr id="621467904" name="Shape 4"/>
          <p:cNvSpPr/>
          <p:nvPr/>
        </p:nvSpPr>
        <p:spPr bwMode="auto">
          <a:xfrm>
            <a:off x="508000" y="863599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406336137" name="Shape 5"/>
          <p:cNvSpPr/>
          <p:nvPr/>
        </p:nvSpPr>
        <p:spPr bwMode="auto">
          <a:xfrm>
            <a:off x="508000" y="1041400"/>
            <a:ext cx="7302500" cy="508000"/>
          </a:xfrm>
          <a:prstGeom prst="roundRect">
            <a:avLst>
              <a:gd name="adj" fmla="val 4000"/>
            </a:avLst>
          </a:prstGeom>
          <a:solidFill>
            <a:srgbClr val="8B4513"/>
          </a:solidFill>
          <a:ln/>
        </p:spPr>
      </p:sp>
      <p:sp>
        <p:nvSpPr>
          <p:cNvPr id="1197002199" name="Text 6"/>
          <p:cNvSpPr/>
          <p:nvPr/>
        </p:nvSpPr>
        <p:spPr bwMode="auto">
          <a:xfrm>
            <a:off x="508000" y="1041400"/>
            <a:ext cx="7302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Limitations</a:t>
            </a:r>
            <a:endParaRPr lang="en-US" sz="1600"/>
          </a:p>
        </p:txBody>
      </p:sp>
      <p:sp>
        <p:nvSpPr>
          <p:cNvPr id="148945214" name="Shape 7"/>
          <p:cNvSpPr/>
          <p:nvPr/>
        </p:nvSpPr>
        <p:spPr bwMode="auto">
          <a:xfrm>
            <a:off x="508000" y="1549400"/>
            <a:ext cx="7302500" cy="5334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1150566762" name="Text 8"/>
          <p:cNvSpPr/>
          <p:nvPr/>
        </p:nvSpPr>
        <p:spPr bwMode="auto">
          <a:xfrm>
            <a:off x="711200" y="1701800"/>
            <a:ext cx="68961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  <a:defRPr/>
            </a:pPr>
            <a:r>
              <a:rPr lang="en-US" sz="1400" b="1">
                <a:solidFill>
                  <a:srgbClr val="8B4513"/>
                </a:solidFill>
                <a:latin typeface="Quattrocento Sans"/>
                <a:ea typeface="Quattrocento Sans"/>
                <a:cs typeface="Quattrocento Sans"/>
              </a:rPr>
              <a:t>1. Single run per config</a:t>
            </a:r>
            <a:endParaRPr lang="en-US" sz="1400"/>
          </a:p>
          <a:p>
            <a:pPr algn="l">
              <a:lnSpc>
                <a:spcPct val="155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One random seed; no statistical significance; every video-level CI contains zero</a:t>
            </a:r>
            <a:endParaRPr lang="en-US" sz="1400"/>
          </a:p>
          <a:p>
            <a:pPr algn="l">
              <a:lnSpc>
                <a:spcPct val="155000"/>
              </a:lnSpc>
              <a:spcBef>
                <a:spcPts val="600"/>
              </a:spcBef>
              <a:defRPr/>
            </a:pPr>
            <a:r>
              <a:rPr lang="en-US" sz="1400" b="1">
                <a:solidFill>
                  <a:srgbClr val="8B4513"/>
                </a:solidFill>
                <a:latin typeface="Quattrocento Sans"/>
                <a:ea typeface="Quattrocento Sans"/>
                <a:cs typeface="Quattrocento Sans"/>
              </a:rPr>
              <a:t>2. Modest gains, not SOTA</a:t>
            </a:r>
            <a:endParaRPr lang="en-US" sz="1400"/>
          </a:p>
          <a:p>
            <a:pPr algn="l">
              <a:lnSpc>
                <a:spcPct val="155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Improvements are small and within single-seed noise</a:t>
            </a:r>
            <a:endParaRPr lang="en-US" sz="1400"/>
          </a:p>
          <a:p>
            <a:pPr algn="l">
              <a:lnSpc>
                <a:spcPct val="155000"/>
              </a:lnSpc>
              <a:spcBef>
                <a:spcPts val="600"/>
              </a:spcBef>
              <a:defRPr/>
            </a:pPr>
            <a:r>
              <a:rPr lang="en-US" sz="1400" b="1">
                <a:solidFill>
                  <a:srgbClr val="8B4513"/>
                </a:solidFill>
                <a:latin typeface="Quattrocento Sans"/>
                <a:ea typeface="Quattrocento Sans"/>
                <a:cs typeface="Quattrocento Sans"/>
              </a:rPr>
              <a:t>3. Train/serving crop mismatch</a:t>
            </a:r>
            <a:endParaRPr lang="en-US" sz="1400"/>
          </a:p>
          <a:p>
            <a:pPr algn="l">
              <a:lnSpc>
                <a:spcPct val="155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Face alignment differs between training and deployment</a:t>
            </a:r>
            <a:endParaRPr lang="en-US" sz="1400"/>
          </a:p>
          <a:p>
            <a:pPr algn="l">
              <a:lnSpc>
                <a:spcPct val="155000"/>
              </a:lnSpc>
              <a:spcBef>
                <a:spcPts val="600"/>
              </a:spcBef>
              <a:defRPr/>
            </a:pPr>
            <a:r>
              <a:rPr lang="en-US" sz="1400" b="1">
                <a:solidFill>
                  <a:srgbClr val="8B4513"/>
                </a:solidFill>
                <a:latin typeface="Quattrocento Sans"/>
                <a:ea typeface="Quattrocento Sans"/>
                <a:cs typeface="Quattrocento Sans"/>
              </a:rPr>
              <a:t>4. Robustness untested</a:t>
            </a:r>
            <a:endParaRPr lang="en-US" sz="1400"/>
          </a:p>
          <a:p>
            <a:pPr algn="l">
              <a:lnSpc>
                <a:spcPct val="155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No systematic evaluation of re-compression, noise, resolution, adversarial attacks</a:t>
            </a:r>
            <a:endParaRPr lang="en-US" sz="1400"/>
          </a:p>
          <a:p>
            <a:pPr algn="l">
              <a:lnSpc>
                <a:spcPct val="155000"/>
              </a:lnSpc>
              <a:spcBef>
                <a:spcPts val="600"/>
              </a:spcBef>
              <a:defRPr/>
            </a:pPr>
            <a:r>
              <a:rPr lang="en-US" sz="1400" b="1">
                <a:solidFill>
                  <a:srgbClr val="8B4513"/>
                </a:solidFill>
                <a:latin typeface="Quattrocento Sans"/>
                <a:ea typeface="Quattrocento Sans"/>
                <a:cs typeface="Quattrocento Sans"/>
              </a:rPr>
              <a:t>5. Liveness: one dataset only</a:t>
            </a:r>
            <a:endParaRPr lang="en-US" sz="1400"/>
          </a:p>
          <a:p>
            <a:pPr algn="l">
              <a:lnSpc>
                <a:spcPct val="155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LCC-FASD only; cross-dataset behaviour unknown</a:t>
            </a:r>
            <a:endParaRPr lang="en-US" sz="1400"/>
          </a:p>
          <a:p>
            <a:pPr algn="l">
              <a:lnSpc>
                <a:spcPct val="155000"/>
              </a:lnSpc>
              <a:spcBef>
                <a:spcPts val="600"/>
              </a:spcBef>
              <a:defRPr/>
            </a:pPr>
            <a:r>
              <a:rPr lang="en-US" sz="1400" b="1">
                <a:solidFill>
                  <a:srgbClr val="8B4513"/>
                </a:solidFill>
                <a:latin typeface="Quattrocento Sans"/>
                <a:ea typeface="Quattrocento Sans"/>
                <a:cs typeface="Quattrocento Sans"/>
              </a:rPr>
              <a:t>6. No Vietnamese-face data yet</a:t>
            </a:r>
            <a:endParaRPr lang="en-US" sz="1400"/>
          </a:p>
          <a:p>
            <a:pPr algn="l">
              <a:lnSpc>
                <a:spcPct val="155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Test-only probe set in progress; no numbers reported prematurely</a:t>
            </a:r>
            <a:endParaRPr lang="en-US" sz="1400"/>
          </a:p>
        </p:txBody>
      </p:sp>
      <p:sp>
        <p:nvSpPr>
          <p:cNvPr id="445455065" name="Shape 9"/>
          <p:cNvSpPr/>
          <p:nvPr/>
        </p:nvSpPr>
        <p:spPr bwMode="auto">
          <a:xfrm>
            <a:off x="8445500" y="1041400"/>
            <a:ext cx="7302500" cy="508000"/>
          </a:xfrm>
          <a:prstGeom prst="roundRect">
            <a:avLst>
              <a:gd name="adj" fmla="val 4000"/>
            </a:avLst>
          </a:prstGeom>
          <a:solidFill>
            <a:srgbClr val="2E86C1"/>
          </a:solidFill>
          <a:ln/>
        </p:spPr>
      </p:sp>
      <p:sp>
        <p:nvSpPr>
          <p:cNvPr id="585318623" name="Text 10"/>
          <p:cNvSpPr/>
          <p:nvPr/>
        </p:nvSpPr>
        <p:spPr bwMode="auto">
          <a:xfrm>
            <a:off x="8445500" y="1041400"/>
            <a:ext cx="7302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Development Directions</a:t>
            </a:r>
            <a:endParaRPr lang="en-US" sz="1600"/>
          </a:p>
        </p:txBody>
      </p:sp>
      <p:sp>
        <p:nvSpPr>
          <p:cNvPr id="200372832" name="Shape 11"/>
          <p:cNvSpPr/>
          <p:nvPr/>
        </p:nvSpPr>
        <p:spPr bwMode="auto">
          <a:xfrm>
            <a:off x="8445500" y="1549400"/>
            <a:ext cx="7302500" cy="5334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556156437" name="Text 12"/>
          <p:cNvSpPr/>
          <p:nvPr/>
        </p:nvSpPr>
        <p:spPr bwMode="auto">
          <a:xfrm>
            <a:off x="8648700" y="1701800"/>
            <a:ext cx="68961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  <a:defRPr/>
            </a:pPr>
            <a:r>
              <a:rPr lang="en-US" sz="1400" b="1">
                <a:solidFill>
                  <a:srgbClr val="2E86C1"/>
                </a:solidFill>
                <a:latin typeface="Quattrocento Sans"/>
                <a:ea typeface="Quattrocento Sans"/>
                <a:cs typeface="Quattrocento Sans"/>
              </a:rPr>
              <a:t>1. Multi-seed paired tests</a:t>
            </a:r>
            <a:endParaRPr lang="en-US" sz="1400"/>
          </a:p>
          <a:p>
            <a:pPr algn="l">
              <a:lnSpc>
                <a:spcPct val="155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Run multiple seeds with paired statistical tests to confirm frequency benefit</a:t>
            </a:r>
            <a:endParaRPr lang="en-US" sz="1400"/>
          </a:p>
          <a:p>
            <a:pPr algn="l">
              <a:lnSpc>
                <a:spcPct val="155000"/>
              </a:lnSpc>
              <a:spcBef>
                <a:spcPts val="600"/>
              </a:spcBef>
              <a:defRPr/>
            </a:pPr>
            <a:r>
              <a:rPr lang="en-US" sz="1400" b="1">
                <a:solidFill>
                  <a:srgbClr val="2E86C1"/>
                </a:solidFill>
                <a:latin typeface="Quattrocento Sans"/>
                <a:ea typeface="Quattrocento Sans"/>
                <a:cs typeface="Quattrocento Sans"/>
              </a:rPr>
              <a:t>2. Fuse trained liveness score</a:t>
            </a:r>
            <a:endParaRPr lang="en-US" sz="1400"/>
          </a:p>
          <a:p>
            <a:pPr algn="l">
              <a:lnSpc>
                <a:spcPct val="155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Replace interim challenge check with the trained liveness scorer in cascade</a:t>
            </a:r>
            <a:endParaRPr lang="en-US" sz="1400"/>
          </a:p>
          <a:p>
            <a:pPr algn="l">
              <a:lnSpc>
                <a:spcPct val="155000"/>
              </a:lnSpc>
              <a:spcBef>
                <a:spcPts val="600"/>
              </a:spcBef>
              <a:defRPr/>
            </a:pPr>
            <a:r>
              <a:rPr lang="en-US" sz="1400" b="1">
                <a:solidFill>
                  <a:srgbClr val="2E86C1"/>
                </a:solidFill>
                <a:latin typeface="Quattrocento Sans"/>
                <a:ea typeface="Quattrocento Sans"/>
                <a:cs typeface="Quattrocento Sans"/>
              </a:rPr>
              <a:t>3. Self-blended training</a:t>
            </a:r>
            <a:endParaRPr lang="en-US" sz="1400"/>
          </a:p>
          <a:p>
            <a:pPr algn="l">
              <a:lnSpc>
                <a:spcPct val="155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Integrate self-blended augmentation — strongest cross-dataset technique known</a:t>
            </a:r>
            <a:endParaRPr lang="en-US" sz="1400"/>
          </a:p>
          <a:p>
            <a:pPr algn="l">
              <a:lnSpc>
                <a:spcPct val="155000"/>
              </a:lnSpc>
              <a:spcBef>
                <a:spcPts val="600"/>
              </a:spcBef>
              <a:defRPr/>
            </a:pPr>
            <a:r>
              <a:rPr lang="en-US" sz="1400" b="1">
                <a:solidFill>
                  <a:srgbClr val="2E86C1"/>
                </a:solidFill>
                <a:latin typeface="Quattrocento Sans"/>
                <a:ea typeface="Quattrocento Sans"/>
                <a:cs typeface="Quattrocento Sans"/>
              </a:rPr>
              <a:t>4. Vietnamese test set</a:t>
            </a:r>
            <a:endParaRPr lang="en-US" sz="1400"/>
          </a:p>
          <a:p>
            <a:pPr algn="l">
              <a:lnSpc>
                <a:spcPct val="155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Build Vietnamese-face test-only set; expand to diffusion-model forgeries</a:t>
            </a:r>
            <a:endParaRPr lang="en-US" sz="1400"/>
          </a:p>
          <a:p>
            <a:pPr algn="l">
              <a:lnSpc>
                <a:spcPct val="155000"/>
              </a:lnSpc>
              <a:spcBef>
                <a:spcPts val="600"/>
              </a:spcBef>
              <a:defRPr/>
            </a:pPr>
            <a:r>
              <a:rPr lang="en-US" sz="1400" b="1">
                <a:solidFill>
                  <a:srgbClr val="2E86C1"/>
                </a:solidFill>
                <a:latin typeface="Quattrocento Sans"/>
                <a:ea typeface="Quattrocento Sans"/>
                <a:cs typeface="Quattrocento Sans"/>
              </a:rPr>
              <a:t>5. Harden the system</a:t>
            </a:r>
            <a:endParaRPr lang="en-US" sz="1400"/>
          </a:p>
          <a:p>
            <a:pPr algn="l">
              <a:lnSpc>
                <a:spcPct val="155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Unify train/serving crop, robustness evaluation, quantisation + pruning + distillation for edge deployment</a:t>
            </a:r>
            <a:endParaRPr lang="en-US" sz="1400"/>
          </a:p>
          <a:p>
            <a:pPr algn="l">
              <a:lnSpc>
                <a:spcPct val="155000"/>
              </a:lnSpc>
              <a:spcBef>
                <a:spcPts val="600"/>
              </a:spcBef>
              <a:defRPr/>
            </a:pPr>
            <a:r>
              <a:rPr lang="en-US" sz="1400" b="1">
                <a:solidFill>
                  <a:srgbClr val="2E86C1"/>
                </a:solidFill>
                <a:latin typeface="Quattrocento Sans"/>
                <a:ea typeface="Quattrocento Sans"/>
                <a:cs typeface="Quattrocento Sans"/>
              </a:rPr>
              <a:t>6. Complete database design</a:t>
            </a:r>
            <a:endParaRPr lang="en-US" sz="1400"/>
          </a:p>
          <a:p>
            <a:pPr algn="l">
              <a:lnSpc>
                <a:spcPct val="155000"/>
              </a:lnSpc>
              <a:defRPr/>
            </a:pPr>
            <a:r>
              <a:rPr lang="en-US" sz="1400">
                <a:solidFill>
                  <a:srgbClr val="2C2C2C"/>
                </a:solidFill>
                <a:latin typeface="Quattrocento Sans"/>
                <a:ea typeface="Quattrocento Sans"/>
                <a:cs typeface="Quattrocento Sans"/>
              </a:rPr>
              <a:t>Finish the application database schema and audit logging</a:t>
            </a:r>
            <a:endParaRPr lang="en-US" sz="1400"/>
          </a:p>
        </p:txBody>
      </p:sp>
      <p:sp>
        <p:nvSpPr>
          <p:cNvPr id="1233223928" name="Shape 13"/>
          <p:cNvSpPr/>
          <p:nvPr/>
        </p:nvSpPr>
        <p:spPr bwMode="auto">
          <a:xfrm>
            <a:off x="508000" y="7112000"/>
            <a:ext cx="15240000" cy="762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  <a:ln/>
        </p:spPr>
      </p:sp>
      <p:sp>
        <p:nvSpPr>
          <p:cNvPr id="300791202" name="Text 14"/>
          <p:cNvSpPr/>
          <p:nvPr/>
        </p:nvSpPr>
        <p:spPr bwMode="auto">
          <a:xfrm>
            <a:off x="711200" y="7112000"/>
            <a:ext cx="148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Key message:</a:t>
            </a:r>
            <a:r>
              <a:rPr lang="en-US" sz="1400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 Every limitation is stated transparently, and each development direction directly addresses one limitation. The priority is multi-seed validation, liveness integration, and self-blended training combined with the frequency branch.</a:t>
            </a:r>
            <a:endParaRPr lang="en-US" sz="1400"/>
          </a:p>
        </p:txBody>
      </p:sp>
      <p:sp>
        <p:nvSpPr>
          <p:cNvPr id="745860484" name="Text 15"/>
          <p:cNvSpPr/>
          <p:nvPr/>
        </p:nvSpPr>
        <p:spPr bwMode="auto"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  <a:defRPr/>
            </a:pPr>
            <a:r>
              <a:rPr lang="en-US" sz="14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16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7">
    <p:bg>
      <p:bgPr shadeToTitle="0">
        <a:solidFill>
          <a:srgbClr val="F6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4837" name="Shape 0"/>
          <p:cNvSpPr/>
          <p:nvPr/>
        </p:nvSpPr>
        <p:spPr bwMode="auto"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960908780" name="Shape 1"/>
          <p:cNvSpPr/>
          <p:nvPr/>
        </p:nvSpPr>
        <p:spPr bwMode="auto">
          <a:xfrm>
            <a:off x="0" y="5080000"/>
            <a:ext cx="16256000" cy="406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2038904768" name="Text 2"/>
          <p:cNvSpPr/>
          <p:nvPr/>
        </p:nvSpPr>
        <p:spPr bwMode="auto">
          <a:xfrm>
            <a:off x="1016000" y="1270000"/>
            <a:ext cx="13970000" cy="1219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  <a:defRPr/>
            </a:pPr>
            <a:r>
              <a:rPr lang="en-US" sz="64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Thank You</a:t>
            </a:r>
            <a:endParaRPr lang="en-US" sz="6400"/>
          </a:p>
        </p:txBody>
      </p:sp>
      <p:sp>
        <p:nvSpPr>
          <p:cNvPr id="1658088917" name="Text 3"/>
          <p:cNvSpPr/>
          <p:nvPr/>
        </p:nvSpPr>
        <p:spPr bwMode="auto">
          <a:xfrm>
            <a:off x="1016000" y="2616200"/>
            <a:ext cx="1143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2000" spc="500">
                <a:solidFill>
                  <a:srgbClr val="5B9BD5"/>
                </a:solidFill>
                <a:latin typeface="Quattrocento Sans"/>
                <a:ea typeface="Quattrocento Sans"/>
                <a:cs typeface="Quattrocento Sans"/>
              </a:rPr>
              <a:t>THANK YOU FOR YOUR ATTENTION</a:t>
            </a:r>
            <a:endParaRPr lang="en-US" sz="2000"/>
          </a:p>
        </p:txBody>
      </p:sp>
      <p:sp>
        <p:nvSpPr>
          <p:cNvPr id="1990726161" name="Shape 4"/>
          <p:cNvSpPr/>
          <p:nvPr/>
        </p:nvSpPr>
        <p:spPr bwMode="auto">
          <a:xfrm>
            <a:off x="1016000" y="3251200"/>
            <a:ext cx="14224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00122352" name="Text 5"/>
          <p:cNvSpPr/>
          <p:nvPr/>
        </p:nvSpPr>
        <p:spPr bwMode="auto">
          <a:xfrm>
            <a:off x="1016000" y="35306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1A4A7A"/>
                </a:solidFill>
                <a:latin typeface="Quattrocento Sans"/>
                <a:ea typeface="Quattrocento Sans"/>
                <a:cs typeface="Quattrocento Sans"/>
              </a:rPr>
              <a:t>SFDCT: Frequency-Aware Deepfake Detection for eKYC</a:t>
            </a:r>
            <a:endParaRPr lang="en-US" sz="2000"/>
          </a:p>
        </p:txBody>
      </p:sp>
      <p:sp>
        <p:nvSpPr>
          <p:cNvPr id="142632017" name="Text 6"/>
          <p:cNvSpPr/>
          <p:nvPr/>
        </p:nvSpPr>
        <p:spPr bwMode="auto">
          <a:xfrm>
            <a:off x="1016000" y="40132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600">
                <a:solidFill>
                  <a:srgbClr val="666666"/>
                </a:solidFill>
                <a:latin typeface="Quattrocento Sans"/>
                <a:ea typeface="Quattrocento Sans"/>
                <a:cs typeface="Quattrocento Sans"/>
              </a:rPr>
              <a:t>Computer Science &amp; Artificial Intelligence</a:t>
            </a:r>
            <a:endParaRPr lang="en-US" sz="1600"/>
          </a:p>
        </p:txBody>
      </p:sp>
      <p:sp>
        <p:nvSpPr>
          <p:cNvPr id="511444104" name="Text 7"/>
          <p:cNvSpPr/>
          <p:nvPr/>
        </p:nvSpPr>
        <p:spPr bwMode="auto">
          <a:xfrm>
            <a:off x="1016000" y="44450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600">
                <a:solidFill>
                  <a:srgbClr val="666666"/>
                </a:solidFill>
                <a:latin typeface="Quattrocento Sans"/>
                <a:ea typeface="Quattrocento Sans"/>
                <a:cs typeface="Quattrocento Sans"/>
              </a:rPr>
              <a:t>Graduate Thesis Defense — June 2026</a:t>
            </a:r>
            <a:endParaRPr lang="en-US" sz="1600"/>
          </a:p>
        </p:txBody>
      </p:sp>
      <p:sp>
        <p:nvSpPr>
          <p:cNvPr id="1326890872" name="Text 8"/>
          <p:cNvSpPr/>
          <p:nvPr/>
        </p:nvSpPr>
        <p:spPr bwMode="auto">
          <a:xfrm>
            <a:off x="1016000" y="5562600"/>
            <a:ext cx="10160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  <a:defRPr/>
            </a:pPr>
            <a:r>
              <a:rPr lang="en-US" sz="36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Q &amp; A</a:t>
            </a:r>
            <a:endParaRPr lang="en-US" sz="3600"/>
          </a:p>
        </p:txBody>
      </p:sp>
      <p:sp>
        <p:nvSpPr>
          <p:cNvPr id="915522154" name="Text 9"/>
          <p:cNvSpPr/>
          <p:nvPr/>
        </p:nvSpPr>
        <p:spPr bwMode="auto">
          <a:xfrm>
            <a:off x="1016000" y="6400800"/>
            <a:ext cx="1016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1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Questions and Discussion</a:t>
            </a:r>
            <a:endParaRPr lang="en-US" sz="1800"/>
          </a:p>
        </p:txBody>
      </p:sp>
      <p:sp>
        <p:nvSpPr>
          <p:cNvPr id="1086068443" name="Text 10"/>
          <p:cNvSpPr/>
          <p:nvPr/>
        </p:nvSpPr>
        <p:spPr bwMode="auto"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  <a:defRPr/>
            </a:pPr>
            <a:r>
              <a:rPr lang="en-US" sz="1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17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23</Slides>
  <Notes>23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Moonshot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SFDCT: A Frequency-Aware Deepfake Detector for Banking eKYC</dc:title>
  <dc:subject>SFDCT: A Frequency-Aware Deepfake Detector for Banking eKYC</dc:subject>
  <dc:creator>Kimi</dc:creator>
  <cp:lastModifiedBy/>
  <cp:revision>3</cp:revision>
  <dcterms:created xsi:type="dcterms:W3CDTF">2026-06-17T12:16:50Z</dcterms:created>
  <dcterms:modified xsi:type="dcterms:W3CDTF">2026-06-17T23:56:23Z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{"Label":"SFDCT: A Frequency-Aware Deepfake Detector for Banking eKYC","ContentProducer":"001191110108MACG2KBH8F10000","ProduceID":"19ed35cf-0a12-82c9-8000-00002fe52fe7","ReservedCode1":"","ContentPropagator":"001191110108MACG2KBH8F20000","PropagateID":"19ed3595-8702-8c5e-8000-0900926ecc90","ReservedCode2":""}</vt:lpwstr>
  </property>
</Properties>
</file>